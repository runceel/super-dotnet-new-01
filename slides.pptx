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4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2" d="100"/>
          <a:sy n="52" d="100"/>
        </p:scale>
        <p:origin x="36" y="8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jp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1.jpe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ki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S logo white - EMF" descr="Microsoft logo white text version">
            <a:extLst>
              <a:ext uri="{FF2B5EF4-FFF2-40B4-BE49-F238E27FC236}">
                <a16:creationId xmlns:a16="http://schemas.microsoft.com/office/drawing/2014/main" id="{F7CD6B1F-AE52-08A4-59DD-ADA3920FEF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bg1"/>
                </a:solidFill>
                <a:latin typeface="+mj-lt"/>
              </a:rPr>
              <a:t>Microsoft Azure</a:t>
            </a:r>
          </a:p>
        </p:txBody>
      </p:sp>
    </p:spTree>
    <p:extLst>
      <p:ext uri="{BB962C8B-B14F-4D97-AF65-F5344CB8AC3E}">
        <p14:creationId xmlns:p14="http://schemas.microsoft.com/office/powerpoint/2010/main" val="183780193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Walkin"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3B4BC62-442D-D07F-D062-B23F459AF590}"/>
              </a:ext>
            </a:extLst>
          </p:cNvPr>
          <p:cNvSpPr txBox="1"/>
          <p:nvPr/>
        </p:nvSpPr>
        <p:spPr>
          <a:xfrm>
            <a:off x="584200" y="2841172"/>
            <a:ext cx="3790950" cy="14957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US" sz="5400" b="0" dirty="0">
                <a:solidFill>
                  <a:schemeClr val="tx1"/>
                </a:solidFill>
                <a:latin typeface="+mj-lt"/>
              </a:rPr>
              <a:t>Microsoft Azure</a:t>
            </a:r>
          </a:p>
        </p:txBody>
      </p:sp>
      <p:pic>
        <p:nvPicPr>
          <p:cNvPr id="5" name="MS logo gray - EMF" descr="Microsoft logo, gray text version">
            <a:extLst>
              <a:ext uri="{FF2B5EF4-FFF2-40B4-BE49-F238E27FC236}">
                <a16:creationId xmlns:a16="http://schemas.microsoft.com/office/drawing/2014/main" id="{8672AF12-6140-9E72-C268-A8ED4080CA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49900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5284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6590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9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bg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4" name="MS logo white - EMF" descr="Microsoft logo white text version">
            <a:extLst>
              <a:ext uri="{FF2B5EF4-FFF2-40B4-BE49-F238E27FC236}">
                <a16:creationId xmlns:a16="http://schemas.microsoft.com/office/drawing/2014/main" id="{0BB37EE3-73AC-5546-F43B-FE5420C7D0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422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32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4780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2" name="MS logo gray - EMF" descr="Microsoft logo, gray text version">
            <a:extLst>
              <a:ext uri="{FF2B5EF4-FFF2-40B4-BE49-F238E27FC236}">
                <a16:creationId xmlns:a16="http://schemas.microsoft.com/office/drawing/2014/main" id="{BBFAAA10-F521-410E-1BB5-6D77902DD0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4114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9309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3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302670"/>
            <a:ext cx="4978400" cy="1231106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9784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C6B9E508-E424-C5B2-1415-EF47F2EDB1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0349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6144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918223"/>
            <a:ext cx="9144000" cy="615553"/>
          </a:xfrm>
          <a:noFill/>
        </p:spPr>
        <p:txBody>
          <a:bodyPr lIns="0" tIns="0" rIns="0" bIns="0" anchor="b" anchorCtr="0">
            <a:spAutoFit/>
          </a:bodyPr>
          <a:lstStyle>
            <a:lvl1pPr>
              <a:defRPr sz="40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B0D12AE-ADCF-1091-117F-BB03F7EC50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621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8CE50-46CE-0973-AC08-7477BEAD0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3424D10-01E7-37F9-6091-2C95487D9F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DFE8ED1-0EC9-B339-1813-0B4260A0A2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DAAB847-57CB-2458-2ADA-6D77707940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19634A-80BB-C620-3C16-1EA80A7B1C1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 dirty="0"/>
            </a:lvl1pPr>
            <a:lvl2pPr>
              <a:defRPr lang="en-US" sz="1600" dirty="0"/>
            </a:lvl2pPr>
            <a:lvl3pPr>
              <a:defRPr lang="en-US" sz="1600" dirty="0"/>
            </a:lvl3pPr>
            <a:lvl4pPr>
              <a:defRPr lang="en-US" sz="1400" dirty="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05E7CC6D-40F5-C58C-FC44-793B1A98AC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6B93ED5-5CA7-C983-373E-E42D7424C7C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00438"/>
          </a:xfrm>
        </p:spPr>
        <p:txBody>
          <a:bodyPr vert="horz" wrap="square" lIns="0" tIns="0" rIns="0" bIns="0" rtlCol="0">
            <a:spAutoFit/>
          </a:bodyPr>
          <a:lstStyle>
            <a:lvl1pPr>
              <a:defRPr lang="en-US" sz="1600"/>
            </a:lvl1pPr>
            <a:lvl2pPr>
              <a:defRPr lang="en-US" sz="1600"/>
            </a:lvl2pPr>
            <a:lvl3pPr>
              <a:defRPr lang="en-US" sz="1600"/>
            </a:lvl3pPr>
            <a:lvl4pPr>
              <a:defRPr lang="en-US" sz="1400"/>
            </a:lvl4pPr>
            <a:lvl5pPr>
              <a:defRPr lang="en-US" sz="1400" dirty="0"/>
            </a:lvl5pPr>
          </a:lstStyle>
          <a:p>
            <a:pPr marL="141288" lvl="0" indent="-141288"/>
            <a:r>
              <a:rPr lang="ja-JP" altLang="en-US"/>
              <a:t>マスター テキストの書式設定</a:t>
            </a:r>
          </a:p>
          <a:p>
            <a:pPr marL="141288" lvl="1" indent="-141288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marL="141288" lvl="2" indent="-141288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marL="141288" lvl="3" indent="-141288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marL="141288" lvl="4" indent="-141288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65272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651533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2308324"/>
          </a:xfrm>
        </p:spPr>
        <p:txBody>
          <a:bodyPr wrap="square">
            <a:sp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77604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840261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55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Bulle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6989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 Content with Subhea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DFBB8-E1C1-D5AB-8154-CBA2D9EFB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781576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024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32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gradFill>
                  <a:gsLst>
                    <a:gs pos="0">
                      <a:srgbClr val="31ACBD"/>
                    </a:gs>
                    <a:gs pos="68000">
                      <a:schemeClr val="tx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100000">
                      <a:srgbClr val="3EA89B"/>
                    </a:gs>
                    <a:gs pos="0">
                      <a:srgbClr val="225B62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 dirty="0">
                <a:gradFill>
                  <a:gsLst>
                    <a:gs pos="0">
                      <a:srgbClr val="F4364C"/>
                    </a:gs>
                    <a:gs pos="68000">
                      <a:srgbClr val="C03BC4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55399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en-US" sz="1800" b="1">
                <a:gradFill>
                  <a:gsLst>
                    <a:gs pos="0">
                      <a:srgbClr val="FF9318"/>
                    </a:gs>
                    <a:gs pos="44000">
                      <a:srgbClr val="FF5C39"/>
                    </a:gs>
                  </a:gsLst>
                  <a:lin ang="10800000" scaled="1"/>
                </a:gradFill>
                <a:latin typeface="+mj-lt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5015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8736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37751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380103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2657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/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0807892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/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8488400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 dirty="0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gradFill flip="none" rotWithShape="1">
            <a:gsLst>
              <a:gs pos="47706">
                <a:schemeClr val="accent1"/>
              </a:gs>
              <a:gs pos="100000">
                <a:schemeClr val="accent3"/>
              </a:gs>
              <a:gs pos="60000">
                <a:schemeClr val="accent1"/>
              </a:gs>
            </a:gsLst>
            <a:lin ang="18900000" scaled="1"/>
            <a:tileRect/>
          </a:grad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6031375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ower 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09554D-CD2C-F836-9A2C-88CABE5765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984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4194147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25288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076586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8484399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chemeClr val="bg1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/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81755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/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166984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337285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AE597A-BE1E-6B1F-960D-A90DC95443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998890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1684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5696369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9074252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515435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104665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gradFill>
            <a:gsLst>
              <a:gs pos="100000">
                <a:schemeClr val="accent3"/>
              </a:gs>
              <a:gs pos="8000">
                <a:schemeClr val="accent1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FB900"/>
              </a:gs>
              <a:gs pos="0">
                <a:srgbClr val="FFB3B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gradFill>
            <a:gsLst>
              <a:gs pos="100000">
                <a:srgbClr val="F4364C"/>
              </a:gs>
              <a:gs pos="0">
                <a:srgbClr val="8661C5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FFA38B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gradFill>
            <a:gsLst>
              <a:gs pos="0">
                <a:srgbClr val="E8E6DF"/>
              </a:gs>
              <a:gs pos="100000">
                <a:srgbClr val="D4EC8E"/>
              </a:gs>
            </a:gsLst>
            <a:lin ang="18900000" scaled="1"/>
          </a:gra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Drag &amp; drop your photo </a:t>
            </a:r>
            <a:br>
              <a:rPr lang="en-US" dirty="0"/>
            </a:br>
            <a:r>
              <a:rPr lang="en-US" dirty="0"/>
              <a:t>here or click or tap icon 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159895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2309811"/>
            <a:ext cx="3182027" cy="3959217"/>
          </a:xfrm>
        </p:spPr>
        <p:txBody>
          <a:bodyPr anchor="t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9226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 dirty="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76480003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veloper Code Layo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636FE-845C-418D-82A1-1DA6DB73D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2D46E0-16CE-40B0-8623-F82D5D410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1436688"/>
            <a:ext cx="12192000" cy="542131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44977AB6-1D7E-4858-A2EA-BF86577C39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143668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2099310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tabLst>
                <a:tab pos="344488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tabLst>
                <a:tab pos="569913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tabLst>
                <a:tab pos="8001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tabLst>
                <a:tab pos="1028700" algn="l"/>
              </a:tabLst>
              <a:defRPr sz="2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6189093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1322">
          <p15:clr>
            <a:srgbClr val="5ACBF0"/>
          </p15:clr>
        </p15:guide>
        <p15:guide id="2" orient="horz" pos="905">
          <p15:clr>
            <a:srgbClr val="5ACBF0"/>
          </p15:clr>
        </p15:guide>
        <p15:guide id="3" orient="horz" pos="288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Bottom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6390" y="1230681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2827138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827138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3491219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59587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1776">
          <p15:clr>
            <a:srgbClr val="5ACBF0"/>
          </p15:clr>
        </p15:guide>
        <p15:guide id="5" orient="horz" pos="2197">
          <p15:clr>
            <a:srgbClr val="5ACBF0"/>
          </p15:clr>
        </p15:guide>
        <p15:guide id="6" orient="horz" pos="773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Top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1EBE70E-6A93-4EB4-A189-6F9DE42CEE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12192000" cy="4030862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1845FFD-6B9A-4013-932A-5E4D7E849D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224580"/>
            <a:ext cx="11018520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E9A2E28-037B-FA4D-ADDC-1AFA11D65C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0"/>
            <a:ext cx="3788358" cy="446148"/>
          </a:xfrm>
          <a:gradFill flip="none" rotWithShape="1">
            <a:gsLst>
              <a:gs pos="0">
                <a:srgbClr val="000000"/>
              </a:gs>
              <a:gs pos="92000">
                <a:srgbClr val="000000"/>
              </a:gs>
              <a:gs pos="92000">
                <a:schemeClr val="accent1"/>
              </a:gs>
            </a:gsLst>
            <a:lin ang="16200000" scaled="1"/>
            <a:tileRect/>
          </a:gradFill>
        </p:spPr>
        <p:txBody>
          <a:bodyPr lIns="585216" tIns="91440" bIns="4572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6389" y="660508"/>
            <a:ext cx="11018520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B17F8BB-3610-1A4F-9E76-B12E706A55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1152" y="4996505"/>
            <a:ext cx="11018520" cy="369332"/>
          </a:xfrm>
        </p:spPr>
        <p:txBody>
          <a:bodyPr wrap="square">
            <a:spAutoFit/>
          </a:bodyPr>
          <a:lstStyle>
            <a:lvl1pPr marL="0" indent="0">
              <a:spcBef>
                <a:spcPts val="6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  <a:lvl2pPr marL="228531" indent="0">
              <a:buNone/>
              <a:defRPr sz="240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6310263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4" orient="horz" pos="2661">
          <p15:clr>
            <a:srgbClr val="5ACBF0"/>
          </p15:clr>
        </p15:guide>
        <p15:guide id="5" orient="horz" pos="3147">
          <p15:clr>
            <a:srgbClr val="5ACBF0"/>
          </p15:clr>
        </p15:guide>
        <p15:guide id="6" orient="horz" pos="419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Right s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2BB27-7DA5-4478-8C18-C1FFEE20A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4040887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8965" y="1338139"/>
            <a:ext cx="4040185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205984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1763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00725" y="709187"/>
            <a:ext cx="5801961" cy="369332"/>
          </a:xfrm>
        </p:spPr>
        <p:txBody>
          <a:bodyPr/>
          <a:lstStyle>
            <a:lvl1pPr marL="0" indent="0">
              <a:buNone/>
              <a:tabLst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</p:spTree>
    <p:extLst>
      <p:ext uri="{BB962C8B-B14F-4D97-AF65-F5344CB8AC3E}">
        <p14:creationId xmlns:p14="http://schemas.microsoft.com/office/powerpoint/2010/main" val="348109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45">
          <p15:clr>
            <a:srgbClr val="5ACBF0"/>
          </p15:clr>
        </p15:guide>
        <p15:guide id="4" orient="horz" pos="843">
          <p15:clr>
            <a:srgbClr val="5ACBF0"/>
          </p15:clr>
        </p15:guide>
        <p15:guide id="7" pos="3283">
          <p15:clr>
            <a:srgbClr val="5ACBF0"/>
          </p15:clr>
        </p15:guide>
        <p15:guide id="8" pos="3654">
          <p15:clr>
            <a:srgbClr val="5ACBF0"/>
          </p15:clr>
        </p15:guide>
        <p15:guide id="9" pos="2916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de Left s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316165A-5926-4F59-B348-996936FBB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-2" y="0"/>
            <a:ext cx="6986016" cy="6858000"/>
          </a:xfrm>
          <a:prstGeom prst="rect">
            <a:avLst/>
          </a:prstGeom>
          <a:solidFill>
            <a:srgbClr val="FFFFFF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B14A7D-C409-4A7C-9D82-A2E5DBB8AB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5549" y="457200"/>
            <a:ext cx="4031233" cy="492443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0D599919-A8E3-4D2B-86CF-50C6704F17D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1" y="0"/>
            <a:ext cx="3788358" cy="492314"/>
          </a:xfrm>
          <a:gradFill flip="none" rotWithShape="1">
            <a:gsLst>
              <a:gs pos="0">
                <a:srgbClr val="000000"/>
              </a:gs>
              <a:gs pos="99000">
                <a:srgbClr val="000000"/>
              </a:gs>
              <a:gs pos="99000">
                <a:schemeClr val="accent1"/>
              </a:gs>
            </a:gsLst>
            <a:lin ang="10800000" scaled="1"/>
            <a:tileRect/>
          </a:gradFill>
        </p:spPr>
        <p:txBody>
          <a:bodyPr lIns="585216" tIns="91440" bIns="91440"/>
          <a:lstStyle>
            <a:lvl1pPr marL="0" indent="0">
              <a:buNone/>
              <a:defRPr sz="1999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enter title</a:t>
            </a:r>
          </a:p>
        </p:txBody>
      </p:sp>
      <p:sp>
        <p:nvSpPr>
          <p:cNvPr id="13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47501FD0-A948-CC48-8B11-3BD4F2AE4E8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199" y="706011"/>
            <a:ext cx="5819775" cy="369332"/>
          </a:xfrm>
        </p:spPr>
        <p:txBody>
          <a:bodyPr/>
          <a:lstStyle>
            <a:lvl1pPr marL="0" indent="0">
              <a:buNone/>
              <a:defRPr sz="2400">
                <a:solidFill>
                  <a:srgbClr val="2F2F2F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449" indent="0">
              <a:buNone/>
              <a:defRPr sz="23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432" indent="0">
              <a:buNone/>
              <a:defRPr sz="19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319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682" indent="0">
              <a:buNone/>
              <a:defRPr sz="1799">
                <a:gradFill>
                  <a:gsLst>
                    <a:gs pos="61049">
                      <a:schemeClr val="tx1"/>
                    </a:gs>
                    <a:gs pos="43000">
                      <a:schemeClr val="tx1"/>
                    </a:gs>
                  </a:gsLst>
                  <a:lin ang="5400000" scaled="0"/>
                </a:gra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or paste code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818A5-4223-0847-B6E2-655C7DC7B6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75550" y="1336675"/>
            <a:ext cx="4033838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  <a:defRPr sz="2400" b="0" i="0" baseline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0" indent="0">
              <a:lnSpc>
                <a:spcPct val="100000"/>
              </a:lnSpc>
              <a:spcBef>
                <a:spcPts val="60"/>
              </a:spcBef>
              <a:spcAft>
                <a:spcPts val="60"/>
              </a:spcAft>
              <a:buNone/>
              <a:defRPr sz="2400" b="0" i="0">
                <a:solidFill>
                  <a:srgbClr val="2F2F2F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457063" indent="0">
              <a:buNone/>
              <a:defRPr/>
            </a:lvl3pPr>
            <a:lvl4pPr marL="685594" indent="0">
              <a:buNone/>
              <a:defRPr/>
            </a:lvl4pPr>
            <a:lvl5pPr marL="914126" indent="0">
              <a:buNone/>
              <a:defRPr/>
            </a:lvl5pPr>
          </a:lstStyle>
          <a:p>
            <a:pPr lvl="0"/>
            <a:r>
              <a:rPr lang="en-US" dirty="0"/>
              <a:t>Click to edit text</a:t>
            </a:r>
          </a:p>
        </p:txBody>
      </p:sp>
    </p:spTree>
    <p:extLst>
      <p:ext uri="{BB962C8B-B14F-4D97-AF65-F5344CB8AC3E}">
        <p14:creationId xmlns:p14="http://schemas.microsoft.com/office/powerpoint/2010/main" val="28546783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436">
          <p15:clr>
            <a:srgbClr val="5ACBF0"/>
          </p15:clr>
        </p15:guide>
        <p15:guide id="4" orient="horz" pos="839">
          <p15:clr>
            <a:srgbClr val="5ACBF0"/>
          </p15:clr>
        </p15:guide>
        <p15:guide id="6" pos="4402">
          <p15:clr>
            <a:srgbClr val="5ACBF0"/>
          </p15:clr>
        </p15:guide>
        <p15:guide id="7" pos="4034">
          <p15:clr>
            <a:srgbClr val="5ACBF0"/>
          </p15:clr>
        </p15:guide>
        <p15:guide id="8" pos="4772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77823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dirty="0"/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246221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</p:spTree>
    <p:extLst>
      <p:ext uri="{BB962C8B-B14F-4D97-AF65-F5344CB8AC3E}">
        <p14:creationId xmlns:p14="http://schemas.microsoft.com/office/powerpoint/2010/main" val="27544182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35">
          <p15:clr>
            <a:srgbClr val="5ACBF0"/>
          </p15:clr>
        </p15:guide>
        <p15:guide id="3" orient="horz" pos="1910">
          <p15:clr>
            <a:srgbClr val="5ACBF0"/>
          </p15:clr>
        </p15:guide>
        <p15:guide id="4" orient="horz" pos="2505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5268851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461476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94306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741171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4289971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000" b="0" dirty="0">
                <a:latin typeface="+mj-lt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588048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349908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7888054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6802968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Section 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2980408"/>
            <a:ext cx="9144000" cy="553998"/>
          </a:xfrm>
          <a:noFill/>
        </p:spPr>
        <p:txBody>
          <a:bodyPr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61867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D155-47E8-D819-5FA4-748607570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5022EE65-FBB2-C961-B89F-9DADBDB2DB3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27263" y="2199576"/>
            <a:ext cx="3760470" cy="376047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effectLst>
            <a:outerShdw blurRad="215900" dist="190500" dir="2700000" sx="101000" sy="101000" algn="ctr" rotWithShape="0">
              <a:srgbClr val="000000">
                <a:alpha val="23000"/>
              </a:srgbClr>
            </a:outerShdw>
          </a:effectLst>
        </p:spPr>
        <p:txBody>
          <a:bodyPr vert="horz" wrap="square" lIns="0" tIns="0" rIns="0" bIns="0" rtlCol="0" anchor="ctr" anchorCtr="0">
            <a:normAutofit/>
          </a:bodyPr>
          <a:lstStyle>
            <a:lvl1pPr marL="228600" indent="-228600" algn="ctr">
              <a:buNone/>
              <a:defRPr lang="en-US" sz="1800" b="1">
                <a:solidFill>
                  <a:schemeClr val="tx1"/>
                </a:solidFill>
                <a:latin typeface="+mn-lt"/>
              </a:defRPr>
            </a:lvl1pPr>
          </a:lstStyle>
          <a:p>
            <a:pPr marL="228600" lvl="0" indent="-228600" algn="ctr"/>
            <a:r>
              <a:rPr lang="en-US" dirty="0"/>
              <a:t>Click to insert photo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245931" y="3206751"/>
            <a:ext cx="2706480" cy="147732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>
            <a:off x="552732" y="2199576"/>
            <a:ext cx="693200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45931" y="4963876"/>
            <a:ext cx="270648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</p:spTree>
    <p:extLst>
      <p:ext uri="{BB962C8B-B14F-4D97-AF65-F5344CB8AC3E}">
        <p14:creationId xmlns:p14="http://schemas.microsoft.com/office/powerpoint/2010/main" val="9032936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7228114" y="292100"/>
            <a:ext cx="4659086" cy="6272213"/>
          </a:xfrm>
          <a:prstGeom prst="rect">
            <a:avLst/>
          </a:prstGeom>
          <a:gradFill>
            <a:gsLst>
              <a:gs pos="0">
                <a:srgbClr val="FFB3BB"/>
              </a:gs>
              <a:gs pos="100000">
                <a:srgbClr val="FFB900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76380" y="1866864"/>
            <a:ext cx="5544120" cy="3124272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731520" rIns="73152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020F17E-67BE-FC02-AF7B-709A3923C23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932234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reensho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565C022-5A4E-84F5-B51B-1431B6A0AE21}"/>
              </a:ext>
            </a:extLst>
          </p:cNvPr>
          <p:cNvSpPr/>
          <p:nvPr/>
        </p:nvSpPr>
        <p:spPr bwMode="auto">
          <a:xfrm>
            <a:off x="304800" y="292100"/>
            <a:ext cx="11582400" cy="6272213"/>
          </a:xfrm>
          <a:prstGeom prst="rect">
            <a:avLst/>
          </a:prstGeom>
          <a:gradFill>
            <a:gsLst>
              <a:gs pos="64000">
                <a:srgbClr val="0D82CB"/>
              </a:gs>
              <a:gs pos="0">
                <a:srgbClr val="7FDE7B"/>
              </a:gs>
            </a:gsLst>
            <a:lin ang="8100000" scaled="1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83E7235-22DD-1125-FF85-028A2E641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896801"/>
            <a:ext cx="3590037" cy="1661993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461762" y="1490647"/>
            <a:ext cx="6879337" cy="3876706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6639293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slid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20436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3" name="Picture Placeholder 15">
            <a:extLst>
              <a:ext uri="{FF2B5EF4-FFF2-40B4-BE49-F238E27FC236}">
                <a16:creationId xmlns:a16="http://schemas.microsoft.com/office/drawing/2014/main" id="{90C592A4-DBC6-A7A9-63D9-5020A47499F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7489036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B0FE6-6EE4-72F6-EE0C-E481F72F7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4910837" cy="110799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EC160D-0F95-E237-7287-43174DA4A3F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1" y="1816100"/>
            <a:ext cx="4910838" cy="161274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6" name="Picture Placeholder 15">
            <a:extLst>
              <a:ext uri="{FF2B5EF4-FFF2-40B4-BE49-F238E27FC236}">
                <a16:creationId xmlns:a16="http://schemas.microsoft.com/office/drawing/2014/main" id="{830D09FD-2495-FD73-64EA-14E484039E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0"/>
            <a:ext cx="6096000" cy="6858000"/>
          </a:xfrm>
          <a:blipFill>
            <a:blip r:embed="rId2"/>
            <a:stretch>
              <a:fillRect/>
            </a:stretch>
          </a:blipFill>
          <a:effectLst/>
        </p:spPr>
        <p:txBody>
          <a:bodyPr lIns="1097280" rIns="1097280" bIns="1097280" anchor="ctr" anchorCtr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Drag &amp; drop your photo here or 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68586858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993208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655B182-C5FF-81E8-8156-470DF3249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798286"/>
            <a:ext cx="4663440" cy="738664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4800" spc="-50" baseline="0">
                <a:solidFill>
                  <a:schemeClr val="tx2"/>
                </a:solidFill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C71D650-3B87-D82E-F786-ADD5DDCE4C7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199" y="4847464"/>
            <a:ext cx="3898901" cy="246221"/>
          </a:xfrm>
          <a:noFill/>
        </p:spPr>
        <p:txBody>
          <a:bodyPr wrap="square" lIns="0" tIns="0" rIns="0" bIns="0" anchor="b" anchorCtr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5A3663-712F-A49D-172F-24B8615113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4199" y="5106140"/>
            <a:ext cx="3898901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dirty="0"/>
              <a:t>Contact information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4B828D67-4891-FD7F-4AA2-E9E4A65251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11529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08832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16899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logo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 dirty="0">
                <a:solidFill>
                  <a:schemeClr val="tx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MS logo white - EMF" descr="Microsoft logo white text version">
            <a:extLst>
              <a:ext uri="{FF2B5EF4-FFF2-40B4-BE49-F238E27FC236}">
                <a16:creationId xmlns:a16="http://schemas.microsoft.com/office/drawing/2014/main" id="{70D3778F-A717-44C8-9013-FF206B15DD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537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ck Notes slide Layou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 b="0">
                <a:solidFill>
                  <a:schemeClr val="tx1"/>
                </a:solidFill>
                <a:latin typeface="+mj-lt"/>
                <a:ea typeface="Segoe UI" pitchFamily="34" charset="0"/>
                <a:cs typeface="Segoe UI" pitchFamily="34" charset="0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B6606D-2DF9-48CD-BBE9-B751BF55CD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 bwMode="white">
          <a:xfrm>
            <a:off x="584200" y="1436688"/>
            <a:ext cx="11018838" cy="2215991"/>
          </a:xfrm>
        </p:spPr>
        <p:txBody>
          <a:bodyPr>
            <a:spAutoFit/>
          </a:bodyPr>
          <a:lstStyle>
            <a:lvl1pPr>
              <a:defRPr sz="3600">
                <a:latin typeface="+mn-lt"/>
              </a:defRPr>
            </a:lvl1pPr>
            <a:lvl2pPr>
              <a:defRPr sz="28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1800">
                <a:latin typeface="+mn-lt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Next slide"/>
          <p:cNvSpPr>
            <a:spLocks noGrp="1"/>
          </p:cNvSpPr>
          <p:nvPr>
            <p:ph type="body" sz="quarter" idx="11" hasCustomPrompt="1"/>
          </p:nvPr>
        </p:nvSpPr>
        <p:spPr>
          <a:xfrm>
            <a:off x="1" y="6269038"/>
            <a:ext cx="12192001" cy="588963"/>
          </a:xfrm>
          <a:prstGeom prst="rect">
            <a:avLst/>
          </a:prstGeom>
          <a:solidFill>
            <a:srgbClr val="FFFF99"/>
          </a:solidFill>
        </p:spPr>
        <p:txBody>
          <a:bodyPr wrap="square" lIns="155457" tIns="77729" rIns="155457" bIns="45720" anchor="b" anchorCtr="0">
            <a:noAutofit/>
          </a:bodyPr>
          <a:lstStyle>
            <a:lvl1pPr algn="r">
              <a:buFont typeface="Arial" pitchFamily="34" charset="0"/>
              <a:buNone/>
              <a:defRPr sz="3700" spc="-51" baseline="0">
                <a:solidFill>
                  <a:srgbClr val="000000"/>
                </a:solidFill>
                <a:effectLst/>
                <a:latin typeface="Segoe UI" pitchFamily="34" charset="0"/>
                <a:ea typeface="Segoe UI" pitchFamily="34" charset="0"/>
                <a:cs typeface="Segoe UI" pitchFamily="34" charset="0"/>
              </a:defRPr>
            </a:lvl1pPr>
          </a:lstStyle>
          <a:p>
            <a:pPr lvl="0"/>
            <a:r>
              <a:rPr lang="en-US" dirty="0"/>
              <a:t>Next:</a:t>
            </a:r>
          </a:p>
        </p:txBody>
      </p:sp>
    </p:spTree>
    <p:extLst>
      <p:ext uri="{BB962C8B-B14F-4D97-AF65-F5344CB8AC3E}">
        <p14:creationId xmlns:p14="http://schemas.microsoft.com/office/powerpoint/2010/main" val="1756456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" orient="horz" pos="904">
          <p15:clr>
            <a:srgbClr val="5ACBF0"/>
          </p15:clr>
        </p15:guide>
        <p15:guide id="2" orient="horz" pos="288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AE380-3F53-E692-9808-00C72E56FE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BF998EB-668F-3F25-6D1B-BA299D205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347C967-ECCA-41AE-6674-64E570536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230C7-5423-43F0-AE08-EE409515EA12}" type="datetimeFigureOut">
              <a:rPr kumimoji="1" lang="ja-JP" altLang="en-US" smtClean="0"/>
              <a:t>2026/5/27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E341A00-D236-8069-F329-97CA85365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2BFEA8-F1E5-1CFF-7A7A-E5508A41E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834EC-8B3F-46D7-B2EA-DA52255AF19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765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image" Target="../media/image1.svg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346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</p:sldLayoutIdLst>
  <p:transition>
    <p:fade/>
  </p:transition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kumimoji="1" lang="en-US" sz="3600" b="0" kern="1200" cap="none" spc="-50" baseline="0" dirty="0" smtClean="0">
          <a:ln w="3175">
            <a:noFill/>
          </a:ln>
          <a:solidFill>
            <a:schemeClr val="tx2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kumimoji="1"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hyperlink" Target="https://zenn.dev/okazuki" TargetMode="Externa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Aspire と GitHub Copilot の連携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ja-JP" dirty="0"/>
              <a:t>Kazuki Ota / 日本マイクロソフト</a:t>
            </a:r>
          </a:p>
          <a:p>
            <a:r>
              <a:rPr lang="en-US" dirty="0"/>
              <a:t>@okazuki</a:t>
            </a:r>
          </a:p>
          <a:p>
            <a:r>
              <a:rPr lang="ja-JP" dirty="0"/>
              <a:t>2026/05/29 超dotnet new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wrap="square" anchor="t">
            <a:normAutofit/>
          </a:bodyPr>
          <a:lstStyle/>
          <a:p>
            <a:r>
              <a:rPr lang="ja-JP" dirty="0"/>
              <a:t>自己紹介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511800" cy="4833938"/>
          </a:xfrm>
        </p:spPr>
        <p:txBody>
          <a:bodyPr wrap="square">
            <a:normAutofit lnSpcReduction="10000"/>
          </a:bodyPr>
          <a:lstStyle/>
          <a:p>
            <a:pPr marL="0" indent="0">
              <a:buNone/>
            </a:pPr>
            <a:r>
              <a:rPr lang="en-US" altLang="ja-JP" dirty="0"/>
              <a:t>Cloud Solution Architect &amp; Evangelist</a:t>
            </a:r>
            <a:r>
              <a:rPr lang="ja-JP" altLang="ja-JP" dirty="0"/>
              <a:t> / 日本マイクロソフト</a:t>
            </a:r>
          </a:p>
          <a:p>
            <a:pPr marL="0" lvl="0" indent="0">
              <a:buNone/>
            </a:pPr>
            <a:r>
              <a:rPr lang="ja-JP" dirty="0"/>
              <a:t>大田 一希 (Kazuki Ota)</a:t>
            </a:r>
            <a:endParaRPr lang="en-US" altLang="ja-JP" dirty="0"/>
          </a:p>
          <a:p>
            <a:pPr lvl="0"/>
            <a:endParaRPr lang="en-US" altLang="ja-JP" dirty="0"/>
          </a:p>
          <a:p>
            <a:pPr marL="0" lvl="0" indent="0">
              <a:buNone/>
            </a:pPr>
            <a:r>
              <a:rPr lang="en-US" altLang="ja-JP" dirty="0"/>
              <a:t>SNS/</a:t>
            </a:r>
            <a:r>
              <a:rPr lang="ja-JP" altLang="en-US" dirty="0"/>
              <a:t>ブログ</a:t>
            </a:r>
            <a:endParaRPr lang="ja-JP" dirty="0"/>
          </a:p>
          <a:p>
            <a:pPr lvl="0"/>
            <a:r>
              <a:rPr lang="en-US" dirty="0"/>
              <a:t>X / GitHub: @okazuki/@runceel</a:t>
            </a:r>
          </a:p>
          <a:p>
            <a:pPr lvl="0"/>
            <a:r>
              <a:rPr lang="en-US" dirty="0"/>
              <a:t>Zenn: </a:t>
            </a:r>
            <a:r>
              <a:rPr lang="en-US" dirty="0">
                <a:hlinkClick r:id="rId2"/>
              </a:rPr>
              <a:t>https://zenn.dev/okazuki</a:t>
            </a:r>
            <a:endParaRPr lang="en-US" dirty="0"/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ja-JP" altLang="en-US" dirty="0"/>
              <a:t>最近のマイブーム</a:t>
            </a:r>
            <a:endParaRPr lang="en-US" dirty="0"/>
          </a:p>
          <a:p>
            <a:pPr lvl="0"/>
            <a:r>
              <a:rPr lang="en-US" dirty="0"/>
              <a:t>GitHub Copilot app</a:t>
            </a:r>
          </a:p>
        </p:txBody>
      </p:sp>
      <p:pic>
        <p:nvPicPr>
          <p:cNvPr id="5" name="図 4" descr="A person is standing against a wall with a large, colorful display of the Microsoft Windows logo.&#10;&#10;AI 生成コンテンツは誤りを含む可能性があります。">
            <a:extLst>
              <a:ext uri="{FF2B5EF4-FFF2-40B4-BE49-F238E27FC236}">
                <a16:creationId xmlns:a16="http://schemas.microsoft.com/office/drawing/2014/main" id="{31940806-BA72-485D-016F-A8618760F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98" b="2"/>
          <a:stretch>
            <a:fillRect/>
          </a:stretch>
        </p:blipFill>
        <p:spPr>
          <a:xfrm>
            <a:off x="6389688" y="1435100"/>
            <a:ext cx="5219700" cy="483393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6359434" cy="553998"/>
          </a:xfrm>
        </p:spPr>
        <p:txBody>
          <a:bodyPr wrap="square" anchor="t">
            <a:normAutofit/>
          </a:bodyPr>
          <a:lstStyle/>
          <a:p>
            <a:r>
              <a:rPr lang="ja-JP" dirty="0"/>
              <a:t>Aspire とは?</a:t>
            </a:r>
          </a:p>
        </p:txBody>
      </p:sp>
      <p:pic>
        <p:nvPicPr>
          <p:cNvPr id="20" name="Aspire Logo"/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8163382" y="1866864"/>
            <a:ext cx="3124272" cy="3124272"/>
          </a:xfrm>
          <a:prstGeom prst="rect">
            <a:avLst/>
          </a:prstGeom>
          <a:noFill/>
          <a:effectLst>
            <a:outerShdw blurRad="241300" dist="304800" dir="2700000" sx="101000" sy="101000" algn="ctr" rotWithShape="0">
              <a:srgbClr val="000000">
                <a:alpha val="17000"/>
              </a:srgbClr>
            </a:outerShdw>
          </a:effectLst>
        </p:spPr>
      </p:pic>
      <p:sp>
        <p:nvSpPr>
          <p:cNvPr id="3" name="Content Placeholder 3"/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6359434" cy="4833938"/>
          </a:xfrm>
        </p:spPr>
        <p:txBody>
          <a:bodyPr wrap="square">
            <a:normAutofit/>
          </a:bodyPr>
          <a:lstStyle/>
          <a:p>
            <a:pPr lvl="0"/>
            <a:r>
              <a:rPr lang="ja-JP" b="1" dirty="0"/>
              <a:t>コードファースト</a:t>
            </a:r>
            <a:r>
              <a:rPr lang="ja-JP" dirty="0"/>
              <a:t>な分散アプリの</a:t>
            </a:r>
            <a:br>
              <a:rPr lang="en-US" altLang="ja-JP" dirty="0"/>
            </a:br>
            <a:r>
              <a:rPr lang="ja-JP" dirty="0"/>
              <a:t>オーケストレーション</a:t>
            </a:r>
          </a:p>
          <a:p>
            <a:pPr lvl="0"/>
            <a:r>
              <a:rPr lang="ja-JP" altLang="en-US" b="1" dirty="0"/>
              <a:t>複数言語</a:t>
            </a:r>
            <a:r>
              <a:rPr lang="ja-JP" b="1" dirty="0"/>
              <a:t>対応</a:t>
            </a:r>
            <a:r>
              <a:rPr lang="ja-JP" dirty="0"/>
              <a:t> </a:t>
            </a:r>
            <a:endParaRPr lang="en-US" altLang="ja-JP" dirty="0"/>
          </a:p>
          <a:p>
            <a:pPr lvl="1"/>
            <a:r>
              <a:rPr lang="ja-JP" dirty="0"/>
              <a:t>C#、TypeScript、Python など</a:t>
            </a:r>
          </a:p>
          <a:p>
            <a:pPr lvl="0"/>
            <a:r>
              <a:rPr lang="en-US" b="1" dirty="0"/>
              <a:t>Dashboard / CLI</a:t>
            </a:r>
            <a:r>
              <a:rPr lang="ja-JP" dirty="0"/>
              <a:t>: </a:t>
            </a:r>
            <a:endParaRPr lang="en-US" altLang="ja-JP" dirty="0"/>
          </a:p>
          <a:p>
            <a:pPr lvl="1"/>
            <a:r>
              <a:rPr lang="ja-JP" dirty="0"/>
              <a:t>ログ・トレース・リソース状態の入口</a:t>
            </a:r>
          </a:p>
          <a:p>
            <a:pPr lvl="0"/>
            <a:r>
              <a:rPr lang="ja-JP" b="1" dirty="0"/>
              <a:t>AIエージェント</a:t>
            </a:r>
            <a:r>
              <a:rPr lang="ja-JP" dirty="0"/>
              <a:t>との連携</a:t>
            </a:r>
            <a:r>
              <a:rPr lang="en-US" altLang="ja-JP" dirty="0"/>
              <a:t> </a:t>
            </a:r>
            <a:r>
              <a:rPr lang="en-US" altLang="ja-JP" b="1" dirty="0"/>
              <a:t>(</a:t>
            </a:r>
            <a:r>
              <a:rPr lang="ja-JP" altLang="en-US" b="1" dirty="0"/>
              <a:t>今日話す内容はここ</a:t>
            </a:r>
            <a:r>
              <a:rPr lang="en-US" altLang="ja-JP" b="1" dirty="0"/>
              <a:t>)</a:t>
            </a:r>
            <a:endParaRPr lang="ja-JP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aspire agent init</a:t>
            </a:r>
            <a:r>
              <a:rPr lang="ja-JP" dirty="0"/>
              <a:t> とは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0"/>
          </p:nvPr>
        </p:nvSpPr>
        <p:spPr>
          <a:xfrm>
            <a:off x="584199" y="1435100"/>
            <a:ext cx="11380273" cy="4013406"/>
          </a:xfrm>
        </p:spPr>
        <p:txBody>
          <a:bodyPr/>
          <a:lstStyle/>
          <a:p>
            <a:pPr marL="0" lvl="0" indent="0">
              <a:buNone/>
            </a:pPr>
            <a:r>
              <a:rPr lang="ja-JP" sz="2400" dirty="0"/>
              <a:t>AIコーディングエージェント向けの環境構成を一発で適用する </a:t>
            </a:r>
            <a:r>
              <a:rPr lang="en-US" sz="2400" dirty="0"/>
              <a:t>Aspire CLI</a:t>
            </a:r>
            <a:r>
              <a:rPr lang="ja-JP" sz="2400" dirty="0"/>
              <a:t> コマンド</a:t>
            </a:r>
          </a:p>
          <a:p>
            <a:pPr lvl="0">
              <a:buNone/>
            </a:pPr>
            <a:endParaRPr lang="en-US" altLang="ja-JP" sz="2400" b="1" dirty="0"/>
          </a:p>
          <a:p>
            <a:pPr lvl="0">
              <a:buNone/>
            </a:pPr>
            <a:r>
              <a:rPr lang="ja-JP" sz="2400" b="1" dirty="0">
                <a:solidFill>
                  <a:schemeClr val="tx2"/>
                </a:solidFill>
              </a:rPr>
              <a:t>追加されるもの</a:t>
            </a:r>
            <a:r>
              <a:rPr lang="en-US" altLang="ja-JP" sz="2400" b="1" dirty="0">
                <a:solidFill>
                  <a:schemeClr val="tx2"/>
                </a:solidFill>
              </a:rPr>
              <a:t> (4 </a:t>
            </a:r>
            <a:r>
              <a:rPr lang="ja-JP" altLang="en-US" sz="2400" b="1" dirty="0">
                <a:solidFill>
                  <a:schemeClr val="tx2"/>
                </a:solidFill>
              </a:rPr>
              <a:t>つの </a:t>
            </a:r>
            <a:r>
              <a:rPr lang="en-US" altLang="ja-JP" sz="2400" b="1" dirty="0">
                <a:solidFill>
                  <a:schemeClr val="tx2"/>
                </a:solidFill>
              </a:rPr>
              <a:t>Skill </a:t>
            </a:r>
            <a:r>
              <a:rPr lang="ja-JP" altLang="en-US" sz="2400" b="1" dirty="0">
                <a:solidFill>
                  <a:schemeClr val="tx2"/>
                </a:solidFill>
              </a:rPr>
              <a:t>と </a:t>
            </a:r>
            <a:r>
              <a:rPr lang="en-US" altLang="ja-JP" sz="2400" b="1" dirty="0">
                <a:solidFill>
                  <a:schemeClr val="tx2"/>
                </a:solidFill>
              </a:rPr>
              <a:t>MCP </a:t>
            </a:r>
            <a:r>
              <a:rPr lang="ja-JP" altLang="en-US" sz="2400" b="1" dirty="0">
                <a:solidFill>
                  <a:schemeClr val="tx2"/>
                </a:solidFill>
              </a:rPr>
              <a:t>サーバー</a:t>
            </a:r>
            <a:r>
              <a:rPr lang="en-US" altLang="ja-JP" sz="2400" b="1" dirty="0">
                <a:solidFill>
                  <a:schemeClr val="tx2"/>
                </a:solidFill>
              </a:rPr>
              <a:t>)</a:t>
            </a:r>
            <a:endParaRPr lang="ja-JP" sz="2400" b="1" dirty="0">
              <a:solidFill>
                <a:schemeClr val="tx2"/>
              </a:solidFill>
            </a:endParaRPr>
          </a:p>
          <a:p>
            <a:pPr lvl="0"/>
            <a:r>
              <a:rPr lang="en-US" sz="2400" b="1" dirty="0"/>
              <a:t>Aspire skill</a:t>
            </a:r>
            <a:r>
              <a:rPr lang="ja-JP" sz="2400" dirty="0"/>
              <a:t> — </a:t>
            </a:r>
            <a:r>
              <a:rPr lang="en-US" sz="2400" dirty="0"/>
              <a:t>aspire CLI</a:t>
            </a:r>
            <a:r>
              <a:rPr lang="ja-JP" sz="2400" dirty="0"/>
              <a:t> と </a:t>
            </a:r>
            <a:r>
              <a:rPr lang="en-US" sz="2400" dirty="0"/>
              <a:t>AppHost</a:t>
            </a:r>
            <a:r>
              <a:rPr lang="ja-JP" sz="2400" dirty="0"/>
              <a:t> の作法を AI に伝える</a:t>
            </a:r>
          </a:p>
          <a:p>
            <a:pPr lvl="0"/>
            <a:r>
              <a:rPr lang="en-US" sz="2400" b="1" dirty="0"/>
              <a:t>dotnet-inspect skill</a:t>
            </a:r>
            <a:r>
              <a:rPr lang="ja-JP" sz="2400" dirty="0"/>
              <a:t> — .NET の API 表面の調査</a:t>
            </a:r>
          </a:p>
          <a:p>
            <a:pPr lvl="0"/>
            <a:r>
              <a:rPr lang="en-US" sz="2400" b="1" dirty="0"/>
              <a:t>Playwright CLI skill</a:t>
            </a:r>
            <a:r>
              <a:rPr lang="ja-JP" sz="2400" dirty="0"/>
              <a:t> — Web リソースのブラウザ自動化</a:t>
            </a:r>
          </a:p>
          <a:p>
            <a:pPr lvl="0"/>
            <a:r>
              <a:rPr lang="en-US" sz="2400" b="1" dirty="0"/>
              <a:t>aspireify skill</a:t>
            </a:r>
            <a:r>
              <a:rPr lang="ja-JP" sz="2400" dirty="0"/>
              <a:t> — 既存アプリへの Aspire 導入支援</a:t>
            </a:r>
          </a:p>
          <a:p>
            <a:pPr lvl="0"/>
            <a:r>
              <a:rPr lang="en-US" sz="2400" b="1" dirty="0"/>
              <a:t>Aspire MCP </a:t>
            </a:r>
            <a:r>
              <a:rPr lang="ja-JP" sz="2400" b="1" dirty="0"/>
              <a:t>サーバー</a:t>
            </a:r>
            <a:r>
              <a:rPr lang="ja-JP" sz="2400" dirty="0"/>
              <a:t> — 実行中アプリの状態・ログ・トレースへ直接アクセス</a:t>
            </a:r>
          </a:p>
          <a:p>
            <a:pPr lvl="0">
              <a:buNone/>
            </a:pPr>
            <a:br>
              <a:rPr lang="en-US" altLang="ja-JP" sz="1600" dirty="0">
                <a:solidFill>
                  <a:srgbClr val="595959"/>
                </a:solidFill>
              </a:rPr>
            </a:br>
            <a:r>
              <a:rPr lang="ja-JP" sz="1600" dirty="0">
                <a:solidFill>
                  <a:srgbClr val="595959"/>
                </a:solidFill>
              </a:rPr>
              <a:t>主要な AI コーディングツール (</a:t>
            </a:r>
            <a:r>
              <a:rPr lang="en-US" sz="1600" dirty="0">
                <a:solidFill>
                  <a:srgbClr val="595959"/>
                </a:solidFill>
              </a:rPr>
              <a:t>GitHub Copilot / Claude Code / </a:t>
            </a:r>
            <a:r>
              <a:rPr lang="en-US" sz="1600" dirty="0" err="1">
                <a:solidFill>
                  <a:srgbClr val="595959"/>
                </a:solidFill>
              </a:rPr>
              <a:t>OpenCode</a:t>
            </a:r>
            <a:r>
              <a:rPr lang="ja-JP" sz="1600" dirty="0">
                <a:solidFill>
                  <a:srgbClr val="595959"/>
                </a:solidFill>
              </a:rPr>
              <a:t> </a:t>
            </a:r>
            <a:r>
              <a:rPr lang="en-US" altLang="ja-JP" sz="1600" dirty="0">
                <a:solidFill>
                  <a:srgbClr val="595959"/>
                </a:solidFill>
              </a:rPr>
              <a:t>/ Codex</a:t>
            </a:r>
            <a:r>
              <a:rPr lang="ja-JP" sz="1600" dirty="0">
                <a:solidFill>
                  <a:srgbClr val="595959"/>
                </a:solidFill>
              </a:rPr>
              <a:t>など) に対応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65760"/>
            <a:ext cx="10820400" cy="800000"/>
          </a:xfrm>
        </p:spPr>
        <p:txBody>
          <a:bodyPr/>
          <a:lstStyle/>
          <a:p>
            <a:r>
              <a:rPr lang="ja-JP" dirty="0"/>
              <a:t>Copilot から見える Aspire アプリ</a:t>
            </a:r>
          </a:p>
        </p:txBody>
      </p:sp>
      <p:sp>
        <p:nvSpPr>
          <p:cNvPr id="10" name="CopilotBox"/>
          <p:cNvSpPr/>
          <p:nvPr/>
        </p:nvSpPr>
        <p:spPr>
          <a:xfrm>
            <a:off x="4696000" y="1500000"/>
            <a:ext cx="2800000" cy="700000"/>
          </a:xfrm>
          <a:prstGeom prst="roundRect">
            <a:avLst/>
          </a:prstGeom>
          <a:solidFill>
            <a:srgbClr val="1E1E1E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GitHub Copilot</a:t>
            </a:r>
          </a:p>
        </p:txBody>
      </p:sp>
      <p:sp>
        <p:nvSpPr>
          <p:cNvPr id="11" name="SourceBox"/>
          <p:cNvSpPr/>
          <p:nvPr/>
        </p:nvSpPr>
        <p:spPr>
          <a:xfrm>
            <a:off x="914400" y="3000000"/>
            <a:ext cx="2400000" cy="700000"/>
          </a:xfrm>
          <a:prstGeom prst="roundRect">
            <a:avLst/>
          </a:prstGeom>
          <a:solidFill>
            <a:srgbClr val="BFBFBF"/>
          </a:solidFill>
          <a:ln>
            <a:noFill/>
          </a:ln>
        </p:spPr>
        <p:txBody>
          <a:bodyPr anchor="ctr"/>
          <a:lstStyle/>
          <a:p>
            <a:pPr algn="ctr"/>
            <a:r>
              <a:rPr lang="ja-JP" sz="1800" b="1" dirty="0">
                <a:solidFill>
                  <a:srgbClr val="333333"/>
                </a:solidFill>
              </a:rPr>
              <a:t>ソースコード</a:t>
            </a:r>
          </a:p>
        </p:txBody>
      </p:sp>
      <p:sp>
        <p:nvSpPr>
          <p:cNvPr id="12" name="CLIBox"/>
          <p:cNvSpPr/>
          <p:nvPr/>
        </p:nvSpPr>
        <p:spPr>
          <a:xfrm>
            <a:off x="4896000" y="3000000"/>
            <a:ext cx="2400000" cy="700000"/>
          </a:xfrm>
          <a:prstGeom prst="roundRect">
            <a:avLst/>
          </a:prstGeom>
          <a:solidFill>
            <a:srgbClr val="FBAE40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800" b="1" dirty="0">
                <a:solidFill>
                  <a:srgbClr val="1E1E1E"/>
                </a:solidFill>
              </a:rPr>
              <a:t>aspire CLI</a:t>
            </a:r>
          </a:p>
        </p:txBody>
      </p:sp>
      <p:sp>
        <p:nvSpPr>
          <p:cNvPr id="13" name="MCPBox"/>
          <p:cNvSpPr/>
          <p:nvPr/>
        </p:nvSpPr>
        <p:spPr>
          <a:xfrm>
            <a:off x="8877600" y="3000000"/>
            <a:ext cx="2400000" cy="700000"/>
          </a:xfrm>
          <a:prstGeom prst="roundRect">
            <a:avLst/>
          </a:prstGeom>
          <a:solidFill>
            <a:srgbClr val="FBAE40"/>
          </a:solidFill>
          <a:ln>
            <a:noFill/>
          </a:ln>
        </p:spPr>
        <p:txBody>
          <a:bodyPr anchor="ctr"/>
          <a:lstStyle/>
          <a:p>
            <a:pPr algn="ctr"/>
            <a:r>
              <a:rPr lang="en-US" sz="1800" b="1" dirty="0">
                <a:solidFill>
                  <a:srgbClr val="1E1E1E"/>
                </a:solidFill>
              </a:rPr>
              <a:t>Aspire MCP server</a:t>
            </a:r>
          </a:p>
        </p:txBody>
      </p:sp>
      <p:sp>
        <p:nvSpPr>
          <p:cNvPr id="14" name="AspireAppBox"/>
          <p:cNvSpPr/>
          <p:nvPr/>
        </p:nvSpPr>
        <p:spPr>
          <a:xfrm>
            <a:off x="3296000" y="4800000"/>
            <a:ext cx="5600000" cy="1100000"/>
          </a:xfrm>
          <a:prstGeom prst="roundRect">
            <a:avLst/>
          </a:prstGeom>
          <a:solidFill>
            <a:srgbClr val="5ACBF0"/>
          </a:solidFill>
          <a:ln>
            <a:noFill/>
          </a:ln>
        </p:spPr>
        <p:txBody>
          <a:bodyPr anchor="ctr"/>
          <a:lstStyle/>
          <a:p>
            <a:pPr algn="ctr"/>
            <a:r>
              <a:rPr lang="ja-JP" sz="2000" b="1" dirty="0">
                <a:solidFill>
                  <a:srgbClr val="1E1E1E"/>
                </a:solidFill>
              </a:rPr>
              <a:t>実行中の Aspire アプリ</a:t>
            </a:r>
          </a:p>
          <a:p>
            <a:pPr algn="ctr"/>
            <a:r>
              <a:rPr lang="en-US" sz="1400" dirty="0">
                <a:solidFill>
                  <a:srgbClr val="1E1E1E"/>
                </a:solidFill>
              </a:rPr>
              <a:t>resources / logs / traces</a:t>
            </a:r>
          </a:p>
        </p:txBody>
      </p:sp>
      <p:cxnSp>
        <p:nvCxnSpPr>
          <p:cNvPr id="20" name="Arrow1"/>
          <p:cNvCxnSpPr/>
          <p:nvPr/>
        </p:nvCxnSpPr>
        <p:spPr>
          <a:xfrm flipH="1">
            <a:off x="2114400" y="2200000"/>
            <a:ext cx="3981600" cy="800000"/>
          </a:xfrm>
          <a:prstGeom prst="straightConnector1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21" name="Arrow2"/>
          <p:cNvCxnSpPr/>
          <p:nvPr/>
        </p:nvCxnSpPr>
        <p:spPr>
          <a:xfrm>
            <a:off x="6096000" y="2200000"/>
            <a:ext cx="0" cy="800000"/>
          </a:xfrm>
          <a:prstGeom prst="straightConnector1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22" name="Arrow3"/>
          <p:cNvCxnSpPr/>
          <p:nvPr/>
        </p:nvCxnSpPr>
        <p:spPr>
          <a:xfrm>
            <a:off x="6096000" y="2200000"/>
            <a:ext cx="3981600" cy="800000"/>
          </a:xfrm>
          <a:prstGeom prst="straightConnector1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23" name="Arrow4"/>
          <p:cNvCxnSpPr/>
          <p:nvPr/>
        </p:nvCxnSpPr>
        <p:spPr>
          <a:xfrm>
            <a:off x="6096000" y="3700000"/>
            <a:ext cx="0" cy="1100000"/>
          </a:xfrm>
          <a:prstGeom prst="straightConnector1">
            <a:avLst/>
          </a:prstGeom>
          <a:ln w="25400">
            <a:solidFill>
              <a:srgbClr val="666666"/>
            </a:solidFill>
            <a:tailEnd type="triangle"/>
          </a:ln>
        </p:spPr>
      </p:cxnSp>
      <p:cxnSp>
        <p:nvCxnSpPr>
          <p:cNvPr id="24" name="Arrow5"/>
          <p:cNvCxnSpPr/>
          <p:nvPr/>
        </p:nvCxnSpPr>
        <p:spPr>
          <a:xfrm flipH="1">
            <a:off x="8696000" y="3700000"/>
            <a:ext cx="1381600" cy="1100000"/>
          </a:xfrm>
          <a:prstGeom prst="straightConnector1">
            <a:avLst/>
          </a:prstGeom>
          <a:ln w="25400">
            <a:solidFill>
              <a:srgbClr val="666666"/>
            </a:solidFill>
            <a:tailEnd type="triangle"/>
          </a:ln>
        </p:spPr>
      </p:cxnSp>
      <p:sp>
        <p:nvSpPr>
          <p:cNvPr id="30" name="Caption"/>
          <p:cNvSpPr txBox="1"/>
          <p:nvPr/>
        </p:nvSpPr>
        <p:spPr>
          <a:xfrm>
            <a:off x="685800" y="6100000"/>
            <a:ext cx="108204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algn="ctr"/>
            <a:r>
              <a:rPr lang="ja-JP" sz="1400" i="1" dirty="0">
                <a:solidFill>
                  <a:srgbClr val="595959"/>
                </a:solidFill>
              </a:rPr>
              <a:t>橙色のボックス = </a:t>
            </a:r>
            <a:r>
              <a:rPr lang="en-US" sz="1400" b="1" i="1" dirty="0">
                <a:solidFill>
                  <a:srgbClr val="C97A00"/>
                </a:solidFill>
              </a:rPr>
              <a:t>aspire agent init</a:t>
            </a:r>
            <a:r>
              <a:rPr lang="ja-JP" sz="1400" i="1" dirty="0">
                <a:solidFill>
                  <a:srgbClr val="595959"/>
                </a:solidFill>
              </a:rPr>
              <a:t> で Copilot に開放される経路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914400"/>
            <a:ext cx="9144000" cy="800000"/>
          </a:xfrm>
        </p:spPr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585216" y="2100000"/>
            <a:ext cx="11023200" cy="4500000"/>
          </a:xfrm>
        </p:spPr>
        <p:txBody>
          <a:bodyPr/>
          <a:lstStyle/>
          <a:p>
            <a:pPr lvl="0">
              <a:buNone/>
            </a:pPr>
            <a:r>
              <a:rPr lang="ja-JP" b="1" dirty="0"/>
              <a:t>ゴール</a:t>
            </a:r>
          </a:p>
          <a:p>
            <a:pPr lvl="0">
              <a:buNone/>
            </a:pPr>
            <a:r>
              <a:rPr lang="en-US" dirty="0"/>
              <a:t>Copilot</a:t>
            </a:r>
            <a:r>
              <a:rPr lang="ja-JP" dirty="0"/>
              <a:t>がログとリソース状態を見て、エラーの原因まで辿り着く</a:t>
            </a:r>
          </a:p>
          <a:p>
            <a:pPr lvl="0">
              <a:buNone/>
            </a:pPr>
            <a:r>
              <a:rPr lang="ja-JP" dirty="0"/>
              <a:t> </a:t>
            </a:r>
          </a:p>
          <a:p>
            <a:pPr lvl="0">
              <a:buNone/>
            </a:pPr>
            <a:r>
              <a:rPr lang="ja-JP" b="1" dirty="0"/>
              <a:t>シナリオ</a:t>
            </a:r>
          </a:p>
          <a:p>
            <a:pPr lvl="0">
              <a:buNone/>
            </a:pPr>
            <a:r>
              <a:rPr lang="en-US" dirty="0"/>
              <a:t>aspire agent init</a:t>
            </a:r>
            <a:r>
              <a:rPr lang="ja-JP" dirty="0"/>
              <a:t>済みのプロジェクトを起動 → 仕込み済みのエラーで起動失敗 → </a:t>
            </a:r>
            <a:r>
              <a:rPr lang="en-US" dirty="0"/>
              <a:t>GitHub Copilot</a:t>
            </a:r>
            <a:r>
              <a:rPr lang="ja-JP" dirty="0"/>
              <a:t>に原因調査を依頼</a:t>
            </a:r>
          </a:p>
          <a:p>
            <a:pPr lvl="0">
              <a:buNone/>
            </a:pPr>
            <a:r>
              <a:rPr lang="ja-JP" dirty="0"/>
              <a:t> </a:t>
            </a:r>
          </a:p>
          <a:p>
            <a:pPr lvl="0">
              <a:buNone/>
            </a:pPr>
            <a:r>
              <a:rPr lang="ja-JP" b="1" dirty="0"/>
              <a:t>注目ポイント</a:t>
            </a:r>
          </a:p>
          <a:p>
            <a:pPr lvl="0">
              <a:buNone/>
            </a:pPr>
            <a:r>
              <a:rPr lang="en-US" dirty="0"/>
              <a:t>Copilot</a:t>
            </a:r>
            <a:r>
              <a:rPr lang="ja-JP" dirty="0"/>
              <a:t>がソース推測ではなく</a:t>
            </a:r>
            <a:r>
              <a:rPr lang="en-US" b="1" dirty="0"/>
              <a:t>aspire</a:t>
            </a:r>
            <a:r>
              <a:rPr lang="ja-JP" b="1" dirty="0"/>
              <a:t>コマンドで状態を見にいくか</a:t>
            </a:r>
          </a:p>
          <a:p>
            <a:pPr lvl="0">
              <a:buNone/>
            </a:pPr>
            <a:r>
              <a:rPr lang="en-US" dirty="0"/>
              <a:t>aspire describe / aspire logs</a:t>
            </a:r>
            <a:r>
              <a:rPr lang="ja-JP" dirty="0"/>
              <a:t> の活用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dirty="0"/>
              <a:t>まとめ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lvl="0"/>
            <a:r>
              <a:rPr lang="en-US" b="1" dirty="0"/>
              <a:t>aspire agent init</a:t>
            </a:r>
            <a:r>
              <a:rPr lang="ja-JP" dirty="0"/>
              <a:t>でCopilotにAspireの作法と観測手段を渡す</a:t>
            </a:r>
          </a:p>
          <a:p>
            <a:pPr lvl="0"/>
            <a:r>
              <a:rPr lang="ja-JP" dirty="0"/>
              <a:t>分散アプリの調査が</a:t>
            </a:r>
            <a:r>
              <a:rPr lang="ja-JP" b="1" dirty="0"/>
              <a:t>推測ベースから観測ベース</a:t>
            </a:r>
            <a:r>
              <a:rPr lang="ja-JP" dirty="0"/>
              <a:t>に</a:t>
            </a:r>
          </a:p>
          <a:p>
            <a:pPr lvl="0"/>
            <a:r>
              <a:rPr lang="en-US" dirty="0"/>
              <a:t>aspire describe / aspire logs / MCP</a:t>
            </a:r>
            <a:r>
              <a:rPr lang="ja-JP" dirty="0"/>
              <a:t>で実行時情報を参照</a:t>
            </a:r>
          </a:p>
          <a:p>
            <a:pPr lvl="0"/>
            <a:r>
              <a:rPr lang="ja-JP" dirty="0"/>
              <a:t>既存アプリでも</a:t>
            </a:r>
            <a:r>
              <a:rPr lang="en-US" dirty="0"/>
              <a:t>aspire agent init</a:t>
            </a:r>
            <a:r>
              <a:rPr lang="ja-JP" dirty="0"/>
              <a:t>を実行するだけで導入可能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Kazuki Ota</a:t>
            </a:r>
          </a:p>
        </p:txBody>
      </p:sp>
      <p:sp>
        <p:nvSpPr>
          <p:cNvPr id="4" name="Text Placeholder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X / GitHub: @okazuki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4-07-29-theme">
  <a:themeElements>
    <a:clrScheme name="Custom 4">
      <a:dk1>
        <a:srgbClr val="000000"/>
      </a:dk1>
      <a:lt1>
        <a:srgbClr val="FFFFFF"/>
      </a:lt1>
      <a:dk2>
        <a:srgbClr val="0078D4"/>
      </a:dk2>
      <a:lt2>
        <a:srgbClr val="E8E6DF"/>
      </a:lt2>
      <a:accent1>
        <a:srgbClr val="0078D4"/>
      </a:accent1>
      <a:accent2>
        <a:srgbClr val="2A446F"/>
      </a:accent2>
      <a:accent3>
        <a:srgbClr val="49C5B1"/>
      </a:accent3>
      <a:accent4>
        <a:srgbClr val="8DE971"/>
      </a:accent4>
      <a:accent5>
        <a:srgbClr val="F4364F"/>
      </a:accent5>
      <a:accent6>
        <a:srgbClr val="C03BC4"/>
      </a:accent6>
      <a:hlink>
        <a:srgbClr val="091F2C"/>
      </a:hlink>
      <a:folHlink>
        <a:srgbClr val="091F2C"/>
      </a:folHlink>
    </a:clrScheme>
    <a:fontScheme name="ユーザー定義 1">
      <a:majorFont>
        <a:latin typeface="Yu Gothic UI Light"/>
        <a:ea typeface="游ゴシック Light"/>
        <a:cs typeface=""/>
      </a:majorFont>
      <a:minorFont>
        <a:latin typeface="Yu Gothic UI"/>
        <a:ea typeface="游ゴシック"/>
        <a:cs typeface=""/>
      </a:minorFont>
    </a:fontScheme>
    <a:fmtScheme name="クチュール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kumimoji="1" sz="2000" dirty="0" err="1">
            <a:solidFill>
              <a:srgbClr val="FFFFFF"/>
            </a:solidFill>
            <a:latin typeface="+mn-ea"/>
            <a:ea typeface="+mn-ea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2024-07-29-theme" id="{178820AD-3201-4B9B-9A81-7335BDE02A91}" vid="{920B8F76-AF69-4BC5-9C28-EAE2FD99EE23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2024-07-29-theme</Template>
  <TotalTime>10</TotalTime>
  <Words>377</Words>
  <Application>Microsoft Office PowerPoint</Application>
  <PresentationFormat>ワイド画面</PresentationFormat>
  <Paragraphs>57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5" baseType="lpstr">
      <vt:lpstr>Yu Gothic UI</vt:lpstr>
      <vt:lpstr>Yu Gothic UI Light</vt:lpstr>
      <vt:lpstr>Arial</vt:lpstr>
      <vt:lpstr>Consolas</vt:lpstr>
      <vt:lpstr>Segoe UI</vt:lpstr>
      <vt:lpstr>Wingdings</vt:lpstr>
      <vt:lpstr>2024-07-29-theme</vt:lpstr>
      <vt:lpstr>Aspire と GitHub Copilot の連携</vt:lpstr>
      <vt:lpstr>自己紹介</vt:lpstr>
      <vt:lpstr>Aspire とは?</vt:lpstr>
      <vt:lpstr>aspire agent init とは</vt:lpstr>
      <vt:lpstr>Copilot から見える Aspire アプリ</vt:lpstr>
      <vt:lpstr>Demo</vt:lpstr>
      <vt:lpstr>まとめ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Kazuki Ota</dc:creator>
  <cp:lastModifiedBy>Kazuki Ota</cp:lastModifiedBy>
  <cp:revision>7</cp:revision>
  <dcterms:created xsi:type="dcterms:W3CDTF">2026-05-21T06:38:06Z</dcterms:created>
  <dcterms:modified xsi:type="dcterms:W3CDTF">2026-05-27T06:16:07Z</dcterms:modified>
</cp:coreProperties>
</file>
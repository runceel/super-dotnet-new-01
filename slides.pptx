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6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hyperlink" Target="https://zenn.dev/okazuki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02670"/>
            <a:ext cx="7411224" cy="1231106"/>
          </a:xfrm>
        </p:spPr>
        <p:txBody>
          <a:bodyPr/>
          <a:lstStyle/>
          <a:p>
            <a:r>
              <a:rPr lang="ja-JP" dirty="0"/>
              <a:t>Aspire と GitHub Copilot の連携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dirty="0"/>
              <a:t>Kazuki Ota / 日本マイクロソフト</a:t>
            </a:r>
          </a:p>
          <a:p>
            <a:r>
              <a:rPr lang="en-US" dirty="0"/>
              <a:t>@okazuki</a:t>
            </a:r>
          </a:p>
          <a:p>
            <a:r>
              <a:rPr lang="ja-JP" dirty="0"/>
              <a:t>2026/05/29 超dotnet new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自己紹介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511800" cy="4833938"/>
          </a:xfrm>
        </p:spPr>
        <p:txBody>
          <a:bodyPr wrap="square">
            <a:normAutofit lnSpcReduction="10000"/>
          </a:bodyPr>
          <a:lstStyle/>
          <a:p>
            <a:pPr marL="0" indent="0">
              <a:buNone/>
            </a:pPr>
            <a:r>
              <a:rPr lang="en-US" altLang="ja-JP" dirty="0"/>
              <a:t>Cloud Solution Architect &amp; Evangelist</a:t>
            </a:r>
            <a:r>
              <a:rPr lang="ja-JP" altLang="ja-JP" dirty="0"/>
              <a:t> / 日本マイクロソフト</a:t>
            </a:r>
          </a:p>
          <a:p>
            <a:pPr marL="0" lvl="0" indent="0">
              <a:buNone/>
            </a:pPr>
            <a:r>
              <a:rPr lang="ja-JP" dirty="0"/>
              <a:t>大田 一希 (Kazuki Ota)</a:t>
            </a:r>
            <a:endParaRPr lang="en-US" altLang="ja-JP" dirty="0"/>
          </a:p>
          <a:p>
            <a:pPr lvl="0"/>
            <a:endParaRPr lang="en-US" altLang="ja-JP" dirty="0"/>
          </a:p>
          <a:p>
            <a:pPr marL="0" lvl="0" indent="0">
              <a:buNone/>
            </a:pPr>
            <a:r>
              <a:rPr lang="en-US" altLang="ja-JP" dirty="0"/>
              <a:t>SNS/</a:t>
            </a:r>
            <a:r>
              <a:rPr lang="ja-JP" altLang="en-US" dirty="0"/>
              <a:t>ブログ</a:t>
            </a:r>
            <a:endParaRPr lang="ja-JP" dirty="0"/>
          </a:p>
          <a:p>
            <a:pPr lvl="0"/>
            <a:r>
              <a:rPr lang="en-US" dirty="0"/>
              <a:t>X / GitHub: @okazuki/@runceel</a:t>
            </a:r>
          </a:p>
          <a:p>
            <a:pPr lvl="0"/>
            <a:r>
              <a:rPr lang="en-US" dirty="0"/>
              <a:t>Zenn: </a:t>
            </a:r>
            <a:r>
              <a:rPr lang="en-US" dirty="0">
                <a:hlinkClick r:id="rId2"/>
              </a:rPr>
              <a:t>https://zenn.dev/okazuki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ja-JP" altLang="en-US" dirty="0"/>
              <a:t>最近のマイブーム</a:t>
            </a:r>
            <a:endParaRPr lang="en-US" dirty="0"/>
          </a:p>
          <a:p>
            <a:pPr lvl="0"/>
            <a:r>
              <a:rPr lang="en-US" dirty="0"/>
              <a:t>GitHub Copilot app</a:t>
            </a:r>
          </a:p>
        </p:txBody>
      </p:sp>
      <p:pic>
        <p:nvPicPr>
          <p:cNvPr id="5" name="図 4" descr="A person is standing against a wall with a large, colorful display of the Microsoft Windows logo.&#10;&#10;AI 生成コンテンツは誤りを含む可能性があります。">
            <a:extLst>
              <a:ext uri="{FF2B5EF4-FFF2-40B4-BE49-F238E27FC236}">
                <a16:creationId xmlns:a16="http://schemas.microsoft.com/office/drawing/2014/main" id="{31940806-BA72-485D-016F-A8618760F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98" b="2"/>
          <a:stretch>
            <a:fillRect/>
          </a:stretch>
        </p:blipFill>
        <p:spPr>
          <a:xfrm>
            <a:off x="6389688" y="1435100"/>
            <a:ext cx="5219700" cy="48339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Aspire とは?</a:t>
            </a:r>
          </a:p>
        </p:txBody>
      </p:sp>
      <p:pic>
        <p:nvPicPr>
          <p:cNvPr id="20" name="Aspire Logo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163382" y="1866864"/>
            <a:ext cx="3124272" cy="3124272"/>
          </a:xfrm>
          <a:prstGeom prst="rect">
            <a:avLst/>
          </a:prstGeom>
          <a:noFill/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</p:pic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6359434" cy="4833938"/>
          </a:xfrm>
        </p:spPr>
        <p:txBody>
          <a:bodyPr wrap="square">
            <a:normAutofit/>
          </a:bodyPr>
          <a:lstStyle/>
          <a:p>
            <a:pPr lvl="0"/>
            <a:r>
              <a:rPr lang="ja-JP" b="1" dirty="0"/>
              <a:t>コードファースト</a:t>
            </a:r>
            <a:r>
              <a:rPr lang="ja-JP" dirty="0"/>
              <a:t>な分散アプリの</a:t>
            </a:r>
            <a:br>
              <a:rPr lang="en-US" altLang="ja-JP" dirty="0"/>
            </a:br>
            <a:r>
              <a:rPr lang="ja-JP" dirty="0"/>
              <a:t>オーケストレーション</a:t>
            </a:r>
          </a:p>
          <a:p>
            <a:pPr lvl="1"/>
            <a:r>
              <a:rPr lang="ja-JP" dirty="0"/>
              <a:t>構成は YAML ではなくコード(C# / TS)</a:t>
            </a:r>
          </a:p>
          <a:p>
            <a:pPr lvl="1"/>
            <a:r>
              <a:rPr lang="ja-JP" dirty="0"/>
              <a:t>サービス間の依存・接続情報を自動配線</a:t>
            </a:r>
          </a:p>
          <a:p>
            <a:pPr lvl="0"/>
            <a:r>
              <a:rPr lang="ja-JP" altLang="en-US" b="1" dirty="0"/>
              <a:t>複数言語</a:t>
            </a:r>
            <a:r>
              <a:rPr lang="ja-JP" b="1" dirty="0"/>
              <a:t>対応</a:t>
            </a:r>
            <a:endParaRPr lang="en-US" altLang="ja-JP" dirty="0"/>
          </a:p>
          <a:p>
            <a:pPr lvl="1"/>
            <a:r>
              <a:rPr lang="ja-JP" dirty="0"/>
              <a:t>C#、TypeScript、Python など</a:t>
            </a:r>
          </a:p>
          <a:p>
            <a:pPr lvl="0"/>
            <a:r>
              <a:rPr lang="en-US" b="1" dirty="0"/>
              <a:t>Dashboard / CLI</a:t>
            </a:r>
            <a:r>
              <a:rPr lang="ja-JP" dirty="0"/>
              <a:t>: </a:t>
            </a:r>
            <a:endParaRPr lang="en-US" altLang="ja-JP" dirty="0"/>
          </a:p>
          <a:p>
            <a:pPr lvl="1"/>
            <a:r>
              <a:rPr lang="ja-JP" dirty="0"/>
              <a:t>ログ・トレース・リソース状態の入口</a:t>
            </a:r>
          </a:p>
          <a:p>
            <a:pPr lvl="0"/>
            <a:r>
              <a:rPr lang="ja-JP" b="1" dirty="0"/>
              <a:t>AIエージェント</a:t>
            </a:r>
            <a:r>
              <a:rPr lang="ja-JP" dirty="0"/>
              <a:t>との連携</a:t>
            </a:r>
            <a:r>
              <a:rPr lang="en-US" altLang="ja-JP" b="1" dirty="0"/>
              <a:t>(</a:t>
            </a:r>
            <a:r>
              <a:rPr lang="ja-JP" altLang="en-US" b="1" dirty="0"/>
              <a:t>今日の本題</a:t>
            </a:r>
            <a:r>
              <a:rPr lang="en-US" altLang="ja-JP" b="1" dirty="0"/>
              <a:t>)</a:t>
            </a:r>
            <a:endParaRPr lang="ja-JP" b="1" dirty="0"/>
          </a:p>
          <a:p>
            <a:pPr lvl="1"/>
            <a:r>
              <a:rPr lang="en-US" dirty="0"/>
              <a:t>aspire agent init</a:t>
            </a:r>
            <a:r>
              <a:rPr lang="ja-JP" dirty="0"/>
              <a:t> でワンコマンド設定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aspire agent init</a:t>
            </a:r>
            <a:r>
              <a:rPr lang="ja-JP" dirty="0"/>
              <a:t> とは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>
          <a:xfrm>
            <a:off x="584199" y="1435100"/>
            <a:ext cx="11380273" cy="4013406"/>
          </a:xfrm>
        </p:spPr>
        <p:txBody>
          <a:bodyPr/>
          <a:lstStyle/>
          <a:p>
            <a:pPr marL="0" lvl="0" indent="0">
              <a:buNone/>
            </a:pPr>
            <a:r>
              <a:rPr lang="ja-JP" sz="2400" dirty="0"/>
              <a:t>AIコーディングエージェント向けの環境構成を一発で適用する</a:t>
            </a:r>
            <a:r>
              <a:rPr lang="en-US" sz="2400" dirty="0"/>
              <a:t>Aspire CLI</a:t>
            </a:r>
            <a:r>
              <a:rPr lang="ja-JP" altLang="en-US" sz="2400" dirty="0"/>
              <a:t>の</a:t>
            </a:r>
            <a:r>
              <a:rPr lang="ja-JP" sz="2400" dirty="0"/>
              <a:t>コマンド</a:t>
            </a:r>
          </a:p>
          <a:p>
            <a:pPr lvl="0">
              <a:buNone/>
            </a:pPr>
            <a:endParaRPr lang="en-US" altLang="ja-JP" sz="2400" b="1" dirty="0"/>
          </a:p>
          <a:p>
            <a:pPr lvl="0">
              <a:buNone/>
            </a:pPr>
            <a:r>
              <a:rPr lang="ja-JP" sz="2400" b="1" dirty="0">
                <a:solidFill>
                  <a:schemeClr val="tx2"/>
                </a:solidFill>
              </a:rPr>
              <a:t>追加されるもの</a:t>
            </a:r>
            <a:r>
              <a:rPr lang="en-US" altLang="ja-JP" sz="2400" b="1" dirty="0">
                <a:solidFill>
                  <a:schemeClr val="tx2"/>
                </a:solidFill>
              </a:rPr>
              <a:t> (4 </a:t>
            </a:r>
            <a:r>
              <a:rPr lang="ja-JP" altLang="en-US" sz="2400" b="1" dirty="0">
                <a:solidFill>
                  <a:schemeClr val="tx2"/>
                </a:solidFill>
              </a:rPr>
              <a:t>つの </a:t>
            </a:r>
            <a:r>
              <a:rPr lang="en-US" altLang="ja-JP" sz="2400" b="1" dirty="0">
                <a:solidFill>
                  <a:schemeClr val="tx2"/>
                </a:solidFill>
              </a:rPr>
              <a:t>Skill </a:t>
            </a:r>
            <a:r>
              <a:rPr lang="ja-JP" altLang="en-US" sz="2400" b="1" dirty="0">
                <a:solidFill>
                  <a:schemeClr val="tx2"/>
                </a:solidFill>
              </a:rPr>
              <a:t>と </a:t>
            </a:r>
            <a:r>
              <a:rPr lang="en-US" altLang="ja-JP" sz="2400" b="1" dirty="0">
                <a:solidFill>
                  <a:schemeClr val="tx2"/>
                </a:solidFill>
              </a:rPr>
              <a:t>MCP </a:t>
            </a:r>
            <a:r>
              <a:rPr lang="ja-JP" altLang="en-US" sz="2400" b="1" dirty="0">
                <a:solidFill>
                  <a:schemeClr val="tx2"/>
                </a:solidFill>
              </a:rPr>
              <a:t>サーバー</a:t>
            </a:r>
            <a:r>
              <a:rPr lang="en-US" altLang="ja-JP" sz="2400" b="1" dirty="0">
                <a:solidFill>
                  <a:schemeClr val="tx2"/>
                </a:solidFill>
              </a:rPr>
              <a:t>)</a:t>
            </a:r>
            <a:endParaRPr lang="ja-JP" sz="2400" b="1" dirty="0">
              <a:solidFill>
                <a:schemeClr val="tx2"/>
              </a:solidFill>
            </a:endParaRPr>
          </a:p>
          <a:p>
            <a:pPr lvl="0"/>
            <a:r>
              <a:rPr lang="en-US" sz="2400" b="1" dirty="0"/>
              <a:t>Aspire skill</a:t>
            </a:r>
            <a:r>
              <a:rPr lang="ja-JP" sz="2400" dirty="0"/>
              <a:t> — </a:t>
            </a:r>
            <a:r>
              <a:rPr lang="en-US" sz="2400" dirty="0"/>
              <a:t>aspire CLI</a:t>
            </a:r>
            <a:r>
              <a:rPr lang="ja-JP" sz="2400" dirty="0"/>
              <a:t> と </a:t>
            </a:r>
            <a:r>
              <a:rPr lang="en-US" sz="2400" dirty="0"/>
              <a:t>AppHost</a:t>
            </a:r>
            <a:r>
              <a:rPr lang="ja-JP" sz="2400" dirty="0"/>
              <a:t> の作法を AI に伝える</a:t>
            </a:r>
          </a:p>
          <a:p>
            <a:pPr lvl="0"/>
            <a:r>
              <a:rPr lang="en-US" sz="2400" b="1" dirty="0"/>
              <a:t>dotnet-inspect skill</a:t>
            </a:r>
            <a:r>
              <a:rPr lang="ja-JP" sz="2400" dirty="0"/>
              <a:t> — .NET の API 表面の調査</a:t>
            </a:r>
          </a:p>
          <a:p>
            <a:pPr lvl="0"/>
            <a:r>
              <a:rPr lang="en-US" sz="2400" b="1" dirty="0"/>
              <a:t>Playwright CLI skill</a:t>
            </a:r>
            <a:r>
              <a:rPr lang="ja-JP" sz="2400" dirty="0"/>
              <a:t> — Web リソースのブラウザ自動化</a:t>
            </a:r>
          </a:p>
          <a:p>
            <a:pPr lvl="0"/>
            <a:r>
              <a:rPr lang="en-US" sz="2400" b="1" dirty="0"/>
              <a:t>aspireify skill</a:t>
            </a:r>
            <a:r>
              <a:rPr lang="ja-JP" sz="2400" dirty="0"/>
              <a:t> — 既存アプリへの Aspire 導入支援</a:t>
            </a:r>
          </a:p>
          <a:p>
            <a:pPr lvl="0"/>
            <a:r>
              <a:rPr lang="en-US" sz="2400" b="1" dirty="0"/>
              <a:t>Aspire MCP </a:t>
            </a:r>
            <a:r>
              <a:rPr lang="ja-JP" sz="2400" b="1" dirty="0"/>
              <a:t>サーバー</a:t>
            </a:r>
            <a:r>
              <a:rPr lang="ja-JP" sz="2400" dirty="0"/>
              <a:t> — 実行中アプリの状態・ログ・トレースへ直接アクセス</a:t>
            </a:r>
          </a:p>
          <a:p>
            <a:pPr lvl="0">
              <a:buNone/>
            </a:pPr>
            <a:br>
              <a:rPr lang="en-US" altLang="ja-JP" sz="1600" dirty="0">
                <a:solidFill>
                  <a:srgbClr val="595959"/>
                </a:solidFill>
              </a:rPr>
            </a:br>
            <a:r>
              <a:rPr lang="ja-JP" sz="1600" dirty="0">
                <a:solidFill>
                  <a:srgbClr val="595959"/>
                </a:solidFill>
              </a:rPr>
              <a:t>主要な AI コーディングツール (</a:t>
            </a:r>
            <a:r>
              <a:rPr lang="en-US" sz="1600" dirty="0">
                <a:solidFill>
                  <a:srgbClr val="595959"/>
                </a:solidFill>
              </a:rPr>
              <a:t>GitHub Copilot / Claude Code / </a:t>
            </a:r>
            <a:r>
              <a:rPr lang="en-US" sz="1600" dirty="0" err="1">
                <a:solidFill>
                  <a:srgbClr val="595959"/>
                </a:solidFill>
              </a:rPr>
              <a:t>OpenCode</a:t>
            </a:r>
            <a:r>
              <a:rPr lang="en-US" altLang="ja-JP" sz="1600" dirty="0">
                <a:solidFill>
                  <a:srgbClr val="595959"/>
                </a:solidFill>
              </a:rPr>
              <a:t>/ Codex</a:t>
            </a:r>
            <a:r>
              <a:rPr lang="ja-JP" sz="1600" dirty="0">
                <a:solidFill>
                  <a:srgbClr val="595959"/>
                </a:solidFill>
              </a:rPr>
              <a:t>など) に対応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7A6BAAF-3314-A302-6B4B-E79FE4F9DA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518160"/>
          </a:xfrm>
        </p:spPr>
        <p:txBody>
          <a:bodyPr/>
          <a:lstStyle/>
          <a:p>
            <a:pPr marL="0" lv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aspire agent init</a:t>
            </a:r>
            <a:r>
              <a:rPr lang="ja-JP" sz="2400" b="1" dirty="0">
                <a:solidFill>
                  <a:schemeClr val="tx2"/>
                </a:solidFill>
              </a:rPr>
              <a:t> 適用前：</a:t>
            </a:r>
          </a:p>
          <a:p>
            <a:pPr lvl="1"/>
            <a:r>
              <a:rPr lang="ja-JP" sz="2000" dirty="0"/>
              <a:t>「なぜ動かない?」と聞いても、ログを見られず想像レベルの答えが返ってきていた</a:t>
            </a:r>
          </a:p>
          <a:p>
            <a:pPr lvl="1"/>
            <a:r>
              <a:rPr lang="ja-JP" sz="2000" dirty="0"/>
              <a:t>状態を伝えるには、ログや構成を手作業で貼り付けるしかなかった</a:t>
            </a:r>
          </a:p>
          <a:p>
            <a:pPr lvl="0">
              <a:buNone/>
            </a:pPr>
            <a:endParaRPr lang="ja-JP" sz="1200" dirty="0"/>
          </a:p>
          <a:p>
            <a:pPr marL="0" lv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aspire agent init</a:t>
            </a:r>
            <a:r>
              <a:rPr lang="ja-JP" sz="2400" b="1" dirty="0">
                <a:solidFill>
                  <a:schemeClr val="tx2"/>
                </a:solidFill>
              </a:rPr>
              <a:t> 適用後：</a:t>
            </a:r>
          </a:p>
          <a:p>
            <a:pPr lvl="1"/>
            <a:r>
              <a:rPr lang="ja-JP" sz="2000" dirty="0"/>
              <a:t>ログ・トレース・実行状態を踏まえた答えが得られる</a:t>
            </a:r>
          </a:p>
          <a:p>
            <a:pPr lvl="0">
              <a:buNone/>
            </a:pPr>
            <a:endParaRPr lang="en-US" altLang="ja-JP" sz="1600" dirty="0"/>
          </a:p>
          <a:p>
            <a:pPr lvl="0">
              <a:buNone/>
            </a:pPr>
            <a:endParaRPr lang="en-US" altLang="ja-JP" sz="1600" dirty="0"/>
          </a:p>
          <a:p>
            <a:pPr lvl="0">
              <a:buNone/>
            </a:pPr>
            <a:endParaRPr lang="ja-JP" sz="1600" dirty="0"/>
          </a:p>
          <a:p>
            <a:pPr marL="0" lvl="0" indent="0" algn="ctr">
              <a:buNone/>
            </a:pPr>
            <a:r>
              <a:rPr lang="en-US" sz="4400" b="1" dirty="0">
                <a:solidFill>
                  <a:schemeClr val="tx2"/>
                </a:solidFill>
              </a:rPr>
              <a:t>Aspire</a:t>
            </a:r>
            <a:r>
              <a:rPr lang="ja-JP" sz="4400" b="1" dirty="0">
                <a:solidFill>
                  <a:schemeClr val="tx2"/>
                </a:solidFill>
              </a:rPr>
              <a:t> と </a:t>
            </a:r>
            <a:r>
              <a:rPr lang="en-US" sz="4400" b="1" dirty="0">
                <a:solidFill>
                  <a:schemeClr val="tx2"/>
                </a:solidFill>
              </a:rPr>
              <a:t>GitHub Copilot</a:t>
            </a:r>
            <a:r>
              <a:rPr lang="ja-JP" sz="4400" b="1" dirty="0">
                <a:solidFill>
                  <a:schemeClr val="tx2"/>
                </a:solidFill>
              </a:rPr>
              <a:t> の組み合わせ</a:t>
            </a:r>
            <a:r>
              <a:rPr lang="ja-JP" altLang="en-US" sz="4400" b="1" dirty="0">
                <a:solidFill>
                  <a:schemeClr val="tx2"/>
                </a:solidFill>
              </a:rPr>
              <a:t>を</a:t>
            </a:r>
            <a:br>
              <a:rPr lang="en-US" altLang="ja-JP" sz="4400" b="1" dirty="0">
                <a:solidFill>
                  <a:schemeClr val="tx2"/>
                </a:solidFill>
              </a:rPr>
            </a:br>
            <a:r>
              <a:rPr lang="ja-JP" sz="4400" b="1" dirty="0">
                <a:solidFill>
                  <a:schemeClr val="tx2"/>
                </a:solidFill>
              </a:rPr>
              <a:t>ぜひ試してみてください</a:t>
            </a:r>
            <a:endParaRPr lang="ja-JP" sz="24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12</TotalTime>
  <Words>310</Words>
  <Application>Microsoft Office PowerPoint</Application>
  <PresentationFormat>ワイド画面</PresentationFormat>
  <Paragraphs>46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  <vt:lpstr>Aspire と GitHub Copilot の連携</vt:lpstr>
      <vt:lpstr>自己紹介</vt:lpstr>
      <vt:lpstr>Aspire とは?</vt:lpstr>
      <vt:lpstr>aspire agent init とは</vt:lpstr>
      <vt:lpstr>Demo</vt:lpstr>
      <vt:lpstr>まとめ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13</cp:revision>
  <dcterms:created xsi:type="dcterms:W3CDTF">2026-05-21T06:38:06Z</dcterms:created>
  <dcterms:modified xsi:type="dcterms:W3CDTF">2026-05-27T09:06:12Z</dcterms:modified>
</cp:coreProperties>
</file>
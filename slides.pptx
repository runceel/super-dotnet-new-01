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4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54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jp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e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1.jpe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S logo white - EMF" descr="Microsoft logo white text version">
            <a:extLst>
              <a:ext uri="{FF2B5EF4-FFF2-40B4-BE49-F238E27FC236}">
                <a16:creationId xmlns:a16="http://schemas.microsoft.com/office/drawing/2014/main" id="{F7CD6B1F-AE52-08A4-59DD-ADA3920FEF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bg1"/>
                </a:solidFill>
                <a:latin typeface="+mj-lt"/>
              </a:rPr>
              <a:t>Microsoft Azure</a:t>
            </a:r>
          </a:p>
        </p:txBody>
      </p:sp>
    </p:spTree>
    <p:extLst>
      <p:ext uri="{BB962C8B-B14F-4D97-AF65-F5344CB8AC3E}">
        <p14:creationId xmlns:p14="http://schemas.microsoft.com/office/powerpoint/2010/main" val="183780193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Walkin"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tx1"/>
                </a:solidFill>
                <a:latin typeface="+mj-lt"/>
              </a:rPr>
              <a:t>Microsoft Azure</a:t>
            </a:r>
          </a:p>
        </p:txBody>
      </p:sp>
      <p:pic>
        <p:nvPicPr>
          <p:cNvPr id="5" name="MS logo gray - EMF" descr="Microsoft logo, gray text version">
            <a:extLst>
              <a:ext uri="{FF2B5EF4-FFF2-40B4-BE49-F238E27FC236}">
                <a16:creationId xmlns:a16="http://schemas.microsoft.com/office/drawing/2014/main" id="{8672AF12-6140-9E72-C268-A8ED4080CA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49900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284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590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422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4780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4114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3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30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3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0349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B0D12AE-ADCF-1091-117F-BB03F7EC50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62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8CE50-46CE-0973-AC08-7477BEAD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3424D10-01E7-37F9-6091-2C95487D9F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DFE8ED1-0EC9-B339-1813-0B4260A0A2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823006D8-810A-DCBB-7E79-17F6322E2F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DAAB847-57CB-2458-2ADA-6D77707940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B655A31-FF73-73EA-1EA8-00F13891AB9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19634A-80BB-C620-3C16-1EA80A7B1C1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05E7CC6D-40F5-C58C-FC44-793B1A98AC5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B93ED5-5CA7-C983-373E-E42D7424C7C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/>
            </a:lvl1pPr>
            <a:lvl2pPr>
              <a:defRPr lang="en-US" sz="1600"/>
            </a:lvl2pPr>
            <a:lvl3pPr>
              <a:defRPr lang="en-US" sz="1600"/>
            </a:lvl3pPr>
            <a:lvl4pPr>
              <a:defRPr lang="en-US" sz="140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65272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5651533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77604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840261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55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6989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DFBB8-E1C1-D5AB-8154-CBA2D9EFB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781576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024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32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gradFill>
                  <a:gsLst>
                    <a:gs pos="0">
                      <a:srgbClr val="31ACBD"/>
                    </a:gs>
                    <a:gs pos="68000">
                      <a:schemeClr val="tx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100000">
                      <a:srgbClr val="3EA89B"/>
                    </a:gs>
                    <a:gs pos="0">
                      <a:srgbClr val="225B6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 dirty="0">
                <a:gradFill>
                  <a:gsLst>
                    <a:gs pos="0">
                      <a:srgbClr val="F4364C"/>
                    </a:gs>
                    <a:gs pos="68000">
                      <a:srgbClr val="C03BC4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0">
                      <a:srgbClr val="FF9318"/>
                    </a:gs>
                    <a:gs pos="44000">
                      <a:srgbClr val="FF5C39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0152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8736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37751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80103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2657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/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080789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8488400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 dirty="0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gradFill flip="none" rotWithShape="1">
            <a:gsLst>
              <a:gs pos="47706">
                <a:schemeClr val="accent1"/>
              </a:gs>
              <a:gs pos="100000">
                <a:schemeClr val="accent3"/>
              </a:gs>
              <a:gs pos="60000">
                <a:schemeClr val="accent1"/>
              </a:gs>
            </a:gsLst>
            <a:lin ang="18900000" scaled="1"/>
            <a:tileRect/>
          </a:grad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6031375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ower 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9554D-CD2C-F836-9A2C-88CABE5765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98462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4194147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25288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076586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848439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81755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312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166984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9337285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E597A-BE1E-6B1F-960D-A90DC9544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998890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1684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96369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074252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6515435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2104665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1598959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2309811"/>
            <a:ext cx="3182027" cy="3959217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92260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480003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636FE-845C-418D-82A1-1DA6DB73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D46E0-16CE-40B0-8623-F82D5D41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1436688"/>
            <a:ext cx="12192000" cy="542131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4977AB6-1D7E-4858-A2EA-BF86577C39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3668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2099310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tabLst>
                <a:tab pos="344488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tabLst>
                <a:tab pos="569913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tabLst>
                <a:tab pos="8001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tabLst>
                <a:tab pos="10287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189093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1322">
          <p15:clr>
            <a:srgbClr val="5ACBF0"/>
          </p15:clr>
        </p15:guide>
        <p15:guide id="2" orient="horz" pos="905">
          <p15:clr>
            <a:srgbClr val="5ACBF0"/>
          </p15:clr>
        </p15:guide>
        <p15:guide id="3" orient="horz" pos="288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Botto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6390" y="1230681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2827138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2713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3491219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595878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1776">
          <p15:clr>
            <a:srgbClr val="5ACBF0"/>
          </p15:clr>
        </p15:guide>
        <p15:guide id="5" orient="horz" pos="2197">
          <p15:clr>
            <a:srgbClr val="5ACBF0"/>
          </p15:clr>
        </p15:guide>
        <p15:guide id="6" orient="horz" pos="773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T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224580"/>
            <a:ext cx="11018520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660508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1152" y="4996505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6310263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2661">
          <p15:clr>
            <a:srgbClr val="5ACBF0"/>
          </p15:clr>
        </p15:guide>
        <p15:guide id="5" orient="horz" pos="3147">
          <p15:clr>
            <a:srgbClr val="5ACBF0"/>
          </p15:clr>
        </p15:guide>
        <p15:guide id="6" orient="horz" pos="419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Right s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BB27-7DA5-4478-8C18-C1FFEE20A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4040887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8965" y="1338139"/>
            <a:ext cx="4040185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205984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1763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0725" y="709187"/>
            <a:ext cx="5801961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48109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45">
          <p15:clr>
            <a:srgbClr val="5ACBF0"/>
          </p15:clr>
        </p15:guide>
        <p15:guide id="4" orient="horz" pos="843">
          <p15:clr>
            <a:srgbClr val="5ACBF0"/>
          </p15:clr>
        </p15:guide>
        <p15:guide id="7" pos="3283">
          <p15:clr>
            <a:srgbClr val="5ACBF0"/>
          </p15:clr>
        </p15:guide>
        <p15:guide id="8" pos="3654">
          <p15:clr>
            <a:srgbClr val="5ACBF0"/>
          </p15:clr>
        </p15:guide>
        <p15:guide id="9" pos="2916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Left s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-2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B14A7D-C409-4A7C-9D82-A2E5DBB8AB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5549" y="457200"/>
            <a:ext cx="4031233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1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199" y="706011"/>
            <a:ext cx="5819775" cy="369332"/>
          </a:xfrm>
        </p:spPr>
        <p:txBody>
          <a:bodyPr/>
          <a:lstStyle>
            <a:lvl1pPr marL="0" indent="0">
              <a:buNone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75550" y="1336675"/>
            <a:ext cx="4033838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8546783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36">
          <p15:clr>
            <a:srgbClr val="5ACBF0"/>
          </p15:clr>
        </p15:guide>
        <p15:guide id="4" orient="horz" pos="839">
          <p15:clr>
            <a:srgbClr val="5ACBF0"/>
          </p15:clr>
        </p15:guide>
        <p15:guide id="6" pos="4402">
          <p15:clr>
            <a:srgbClr val="5ACBF0"/>
          </p15:clr>
        </p15:guide>
        <p15:guide id="7" pos="4034">
          <p15:clr>
            <a:srgbClr val="5ACBF0"/>
          </p15:clr>
        </p15:guide>
        <p15:guide id="8" pos="4772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dirty="0"/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2754418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5268851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461476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94306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741171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4289971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588048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349908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7888054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6802968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261867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0D155-47E8-D819-5FA4-74860757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5022EE65-FBB2-C961-B89F-9DADBDB2DB3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827263" y="2199576"/>
            <a:ext cx="3760470" cy="376047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effectLst>
            <a:outerShdw blurRad="215900" dist="190500" dir="2700000" sx="101000" sy="101000" algn="ctr" rotWithShape="0">
              <a:srgbClr val="000000">
                <a:alpha val="23000"/>
              </a:srgbClr>
            </a:outerShdw>
          </a:effectLst>
        </p:spPr>
        <p:txBody>
          <a:bodyPr vert="horz" wrap="square" lIns="0" tIns="0" rIns="0" bIns="0" rtlCol="0" anchor="ctr" anchorCtr="0">
            <a:normAutofit/>
          </a:bodyPr>
          <a:lstStyle>
            <a:lvl1pPr marL="228600" indent="-228600" algn="ctr">
              <a:buNone/>
              <a:defRPr lang="en-US" sz="1800" b="1">
                <a:solidFill>
                  <a:schemeClr val="tx1"/>
                </a:solidFill>
                <a:latin typeface="+mn-lt"/>
              </a:defRPr>
            </a:lvl1pPr>
          </a:lstStyle>
          <a:p>
            <a:pPr marL="228600" lvl="0" indent="-228600" algn="ctr"/>
            <a:r>
              <a:rPr lang="en-US" dirty="0"/>
              <a:t>Click to insert photo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B878651-6EA0-F1DE-DDB3-D4C07A4E59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45931" y="3206751"/>
            <a:ext cx="2706480" cy="147732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2A3F807-DEFB-6026-D7BD-82284EB7FB76}"/>
              </a:ext>
            </a:extLst>
          </p:cNvPr>
          <p:cNvSpPr/>
          <p:nvPr/>
        </p:nvSpPr>
        <p:spPr>
          <a:xfrm>
            <a:off x="552732" y="2199576"/>
            <a:ext cx="693200" cy="604267"/>
          </a:xfrm>
          <a:custGeom>
            <a:avLst/>
            <a:gdLst>
              <a:gd name="connsiteX0" fmla="*/ 393237 w 674431"/>
              <a:gd name="connsiteY0" fmla="*/ 0 h 587906"/>
              <a:gd name="connsiteX1" fmla="*/ 616089 w 674431"/>
              <a:gd name="connsiteY1" fmla="*/ 0 h 587906"/>
              <a:gd name="connsiteX2" fmla="*/ 616151 w 674431"/>
              <a:gd name="connsiteY2" fmla="*/ 0 h 587906"/>
              <a:gd name="connsiteX3" fmla="*/ 674431 w 674431"/>
              <a:gd name="connsiteY3" fmla="*/ 58280 h 587906"/>
              <a:gd name="connsiteX4" fmla="*/ 674431 w 674431"/>
              <a:gd name="connsiteY4" fmla="*/ 221738 h 587906"/>
              <a:gd name="connsiteX5" fmla="*/ 597219 w 674431"/>
              <a:gd name="connsiteY5" fmla="*/ 471750 h 587906"/>
              <a:gd name="connsiteX6" fmla="*/ 393361 w 674431"/>
              <a:gd name="connsiteY6" fmla="*/ 587630 h 587906"/>
              <a:gd name="connsiteX7" fmla="*/ 380245 w 674431"/>
              <a:gd name="connsiteY7" fmla="*/ 577174 h 587906"/>
              <a:gd name="connsiteX8" fmla="*/ 380245 w 674431"/>
              <a:gd name="connsiteY8" fmla="*/ 489011 h 587906"/>
              <a:gd name="connsiteX9" fmla="*/ 387484 w 674431"/>
              <a:gd name="connsiteY9" fmla="*/ 478865 h 587906"/>
              <a:gd name="connsiteX10" fmla="*/ 523100 w 674431"/>
              <a:gd name="connsiteY10" fmla="*/ 363541 h 587906"/>
              <a:gd name="connsiteX11" fmla="*/ 540423 w 674431"/>
              <a:gd name="connsiteY11" fmla="*/ 283112 h 587906"/>
              <a:gd name="connsiteX12" fmla="*/ 533308 w 674431"/>
              <a:gd name="connsiteY12" fmla="*/ 276306 h 587906"/>
              <a:gd name="connsiteX13" fmla="*/ 393361 w 674431"/>
              <a:gd name="connsiteY13" fmla="*/ 276306 h 587906"/>
              <a:gd name="connsiteX14" fmla="*/ 374986 w 674431"/>
              <a:gd name="connsiteY14" fmla="*/ 257931 h 587906"/>
              <a:gd name="connsiteX15" fmla="*/ 374986 w 674431"/>
              <a:gd name="connsiteY15" fmla="*/ 18251 h 587906"/>
              <a:gd name="connsiteX16" fmla="*/ 393237 w 674431"/>
              <a:gd name="connsiteY16" fmla="*/ 0 h 587906"/>
              <a:gd name="connsiteX17" fmla="*/ 58466 w 674431"/>
              <a:gd name="connsiteY17" fmla="*/ 0 h 587906"/>
              <a:gd name="connsiteX18" fmla="*/ 281070 w 674431"/>
              <a:gd name="connsiteY18" fmla="*/ 0 h 587906"/>
              <a:gd name="connsiteX19" fmla="*/ 299445 w 674431"/>
              <a:gd name="connsiteY19" fmla="*/ 18375 h 587906"/>
              <a:gd name="connsiteX20" fmla="*/ 299445 w 674431"/>
              <a:gd name="connsiteY20" fmla="*/ 221738 h 587906"/>
              <a:gd name="connsiteX21" fmla="*/ 222233 w 674431"/>
              <a:gd name="connsiteY21" fmla="*/ 471750 h 587906"/>
              <a:gd name="connsiteX22" fmla="*/ 18375 w 674431"/>
              <a:gd name="connsiteY22" fmla="*/ 587630 h 587906"/>
              <a:gd name="connsiteX23" fmla="*/ 5259 w 674431"/>
              <a:gd name="connsiteY23" fmla="*/ 577174 h 587906"/>
              <a:gd name="connsiteX24" fmla="*/ 5259 w 674431"/>
              <a:gd name="connsiteY24" fmla="*/ 489011 h 587906"/>
              <a:gd name="connsiteX25" fmla="*/ 12497 w 674431"/>
              <a:gd name="connsiteY25" fmla="*/ 478865 h 587906"/>
              <a:gd name="connsiteX26" fmla="*/ 148114 w 674431"/>
              <a:gd name="connsiteY26" fmla="*/ 363541 h 587906"/>
              <a:gd name="connsiteX27" fmla="*/ 165437 w 674431"/>
              <a:gd name="connsiteY27" fmla="*/ 283112 h 587906"/>
              <a:gd name="connsiteX28" fmla="*/ 158322 w 674431"/>
              <a:gd name="connsiteY28" fmla="*/ 276306 h 587906"/>
              <a:gd name="connsiteX29" fmla="*/ 18375 w 674431"/>
              <a:gd name="connsiteY29" fmla="*/ 276306 h 587906"/>
              <a:gd name="connsiteX30" fmla="*/ 0 w 674431"/>
              <a:gd name="connsiteY30" fmla="*/ 257931 h 587906"/>
              <a:gd name="connsiteX31" fmla="*/ 0 w 674431"/>
              <a:gd name="connsiteY31" fmla="*/ 58466 h 587906"/>
              <a:gd name="connsiteX32" fmla="*/ 58466 w 674431"/>
              <a:gd name="connsiteY32" fmla="*/ 0 h 587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74431" h="587906">
                <a:moveTo>
                  <a:pt x="393237" y="0"/>
                </a:moveTo>
                <a:lnTo>
                  <a:pt x="616089" y="0"/>
                </a:lnTo>
                <a:lnTo>
                  <a:pt x="616151" y="0"/>
                </a:lnTo>
                <a:cubicBezTo>
                  <a:pt x="648322" y="0"/>
                  <a:pt x="674431" y="26109"/>
                  <a:pt x="674431" y="58280"/>
                </a:cubicBezTo>
                <a:lnTo>
                  <a:pt x="674431" y="221738"/>
                </a:lnTo>
                <a:cubicBezTo>
                  <a:pt x="674431" y="328152"/>
                  <a:pt x="648694" y="411490"/>
                  <a:pt x="597219" y="471750"/>
                </a:cubicBezTo>
                <a:cubicBezTo>
                  <a:pt x="548157" y="529102"/>
                  <a:pt x="480225" y="567770"/>
                  <a:pt x="393361" y="587630"/>
                </a:cubicBezTo>
                <a:cubicBezTo>
                  <a:pt x="386679" y="589177"/>
                  <a:pt x="380245" y="584042"/>
                  <a:pt x="380245" y="577174"/>
                </a:cubicBezTo>
                <a:lnTo>
                  <a:pt x="380245" y="489011"/>
                </a:lnTo>
                <a:cubicBezTo>
                  <a:pt x="380245" y="484433"/>
                  <a:pt x="383153" y="480288"/>
                  <a:pt x="387484" y="478865"/>
                </a:cubicBezTo>
                <a:cubicBezTo>
                  <a:pt x="454240" y="456778"/>
                  <a:pt x="499466" y="418295"/>
                  <a:pt x="523100" y="363541"/>
                </a:cubicBezTo>
                <a:cubicBezTo>
                  <a:pt x="535969" y="335824"/>
                  <a:pt x="541784" y="309035"/>
                  <a:pt x="540423" y="283112"/>
                </a:cubicBezTo>
                <a:cubicBezTo>
                  <a:pt x="540238" y="279276"/>
                  <a:pt x="537082" y="276306"/>
                  <a:pt x="533308" y="276306"/>
                </a:cubicBezTo>
                <a:lnTo>
                  <a:pt x="393361" y="276306"/>
                </a:lnTo>
                <a:cubicBezTo>
                  <a:pt x="383215" y="276306"/>
                  <a:pt x="374986" y="268078"/>
                  <a:pt x="374986" y="257931"/>
                </a:cubicBezTo>
                <a:lnTo>
                  <a:pt x="374986" y="18251"/>
                </a:lnTo>
                <a:cubicBezTo>
                  <a:pt x="374986" y="8167"/>
                  <a:pt x="383153" y="0"/>
                  <a:pt x="393237" y="0"/>
                </a:cubicBezTo>
                <a:close/>
                <a:moveTo>
                  <a:pt x="58466" y="0"/>
                </a:moveTo>
                <a:lnTo>
                  <a:pt x="281070" y="0"/>
                </a:lnTo>
                <a:cubicBezTo>
                  <a:pt x="291216" y="0"/>
                  <a:pt x="299445" y="8229"/>
                  <a:pt x="299445" y="18375"/>
                </a:cubicBezTo>
                <a:lnTo>
                  <a:pt x="299445" y="221738"/>
                </a:lnTo>
                <a:cubicBezTo>
                  <a:pt x="299445" y="328152"/>
                  <a:pt x="273708" y="411490"/>
                  <a:pt x="222233" y="471750"/>
                </a:cubicBezTo>
                <a:cubicBezTo>
                  <a:pt x="173171" y="529102"/>
                  <a:pt x="105239" y="567770"/>
                  <a:pt x="18375" y="587630"/>
                </a:cubicBezTo>
                <a:cubicBezTo>
                  <a:pt x="11631" y="589177"/>
                  <a:pt x="5259" y="584042"/>
                  <a:pt x="5259" y="577174"/>
                </a:cubicBezTo>
                <a:lnTo>
                  <a:pt x="5259" y="489011"/>
                </a:lnTo>
                <a:cubicBezTo>
                  <a:pt x="5259" y="484433"/>
                  <a:pt x="8167" y="480288"/>
                  <a:pt x="12497" y="478865"/>
                </a:cubicBezTo>
                <a:cubicBezTo>
                  <a:pt x="79254" y="456778"/>
                  <a:pt x="124480" y="418295"/>
                  <a:pt x="148114" y="363541"/>
                </a:cubicBezTo>
                <a:cubicBezTo>
                  <a:pt x="160983" y="335824"/>
                  <a:pt x="166798" y="309035"/>
                  <a:pt x="165437" y="283112"/>
                </a:cubicBezTo>
                <a:cubicBezTo>
                  <a:pt x="165252" y="279276"/>
                  <a:pt x="162096" y="276306"/>
                  <a:pt x="158322" y="276306"/>
                </a:cubicBezTo>
                <a:lnTo>
                  <a:pt x="18375" y="276306"/>
                </a:lnTo>
                <a:cubicBezTo>
                  <a:pt x="8229" y="276306"/>
                  <a:pt x="0" y="268078"/>
                  <a:pt x="0" y="257931"/>
                </a:cubicBezTo>
                <a:lnTo>
                  <a:pt x="0" y="58466"/>
                </a:lnTo>
                <a:cubicBezTo>
                  <a:pt x="0" y="26171"/>
                  <a:pt x="26171" y="0"/>
                  <a:pt x="58466" y="0"/>
                </a:cubicBezTo>
                <a:close/>
              </a:path>
            </a:pathLst>
          </a:custGeom>
          <a:solidFill>
            <a:schemeClr val="tx1"/>
          </a:solidFill>
          <a:ln w="611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B8F6EDE-3287-C98A-2287-E97E9546E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45931" y="4963876"/>
            <a:ext cx="270648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9032936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6359434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7228114" y="292100"/>
            <a:ext cx="4659086" cy="6272213"/>
          </a:xfrm>
          <a:prstGeom prst="rect">
            <a:avLst/>
          </a:prstGeom>
          <a:gradFill>
            <a:gsLst>
              <a:gs pos="0">
                <a:srgbClr val="FFB3BB"/>
              </a:gs>
              <a:gs pos="100000">
                <a:srgbClr val="FFB900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76380" y="1866864"/>
            <a:ext cx="5544120" cy="312427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731520" rIns="73152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020F17E-67BE-FC02-AF7B-709A3923C23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932234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304800" y="292100"/>
            <a:ext cx="11582400" cy="6272213"/>
          </a:xfrm>
          <a:prstGeom prst="rect">
            <a:avLst/>
          </a:prstGeom>
          <a:gradFill>
            <a:gsLst>
              <a:gs pos="64000">
                <a:srgbClr val="0D82CB"/>
              </a:gs>
              <a:gs pos="0">
                <a:srgbClr val="7FDE7B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896801"/>
            <a:ext cx="3590037" cy="1661993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1762" y="1490647"/>
            <a:ext cx="6879337" cy="3876706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6639293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slid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20436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Picture Placeholder 15">
            <a:extLst>
              <a:ext uri="{FF2B5EF4-FFF2-40B4-BE49-F238E27FC236}">
                <a16:creationId xmlns:a16="http://schemas.microsoft.com/office/drawing/2014/main" id="{90C592A4-DBC6-A7A9-63D9-5020A47499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7489036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16127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Picture Placeholder 15">
            <a:extLst>
              <a:ext uri="{FF2B5EF4-FFF2-40B4-BE49-F238E27FC236}">
                <a16:creationId xmlns:a16="http://schemas.microsoft.com/office/drawing/2014/main" id="{830D09FD-2495-FD73-64EA-14E484039E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4168586858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993208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411529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08832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16899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537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 Notes slide Layou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 b="0">
                <a:solidFill>
                  <a:schemeClr val="tx1"/>
                </a:solidFill>
                <a:latin typeface="+mj-lt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6606D-2DF9-48CD-BBE9-B751BF55CD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white">
          <a:xfrm>
            <a:off x="584200" y="1436688"/>
            <a:ext cx="11018838" cy="2215991"/>
          </a:xfrm>
        </p:spPr>
        <p:txBody>
          <a:bodyPr>
            <a:spAutoFit/>
          </a:bodyPr>
          <a:lstStyle>
            <a:lvl1pPr>
              <a:defRPr sz="36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1800">
                <a:latin typeface="+mn-lt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Next slide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269038"/>
            <a:ext cx="12192001" cy="588963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45720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solidFill>
                  <a:srgbClr val="000000"/>
                </a:soli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Next:</a:t>
            </a:r>
          </a:p>
        </p:txBody>
      </p:sp>
    </p:spTree>
    <p:extLst>
      <p:ext uri="{BB962C8B-B14F-4D97-AF65-F5344CB8AC3E}">
        <p14:creationId xmlns:p14="http://schemas.microsoft.com/office/powerpoint/2010/main" val="1756456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904">
          <p15:clr>
            <a:srgbClr val="5ACBF0"/>
          </p15:clr>
        </p15:guide>
        <p15:guide id="2" orient="horz" pos="288">
          <p15:clr>
            <a:srgbClr val="5ACBF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1AE380-3F53-E692-9808-00C72E56F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BF998EB-668F-3F25-6D1B-BA299D205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47C967-ECCA-41AE-6674-64E570536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230C7-5423-43F0-AE08-EE409515EA12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341A00-D236-8069-F329-97CA85365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2BFEA8-F1E5-1CFF-7A7A-E5508A41E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834EC-8B3F-46D7-B2EA-DA52255AF1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765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image" Target="../media/image1.svg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346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</p:sldLayoutIdLst>
  <p:transition>
    <p:fade/>
  </p:transition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kumimoji="1" lang="en-US" sz="3600" b="0" kern="1200" cap="none" spc="-50" baseline="0" dirty="0" smtClean="0">
          <a:ln w="3175">
            <a:noFill/>
          </a:ln>
          <a:solidFill>
            <a:schemeClr val="tx2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Aspire と GitHub Copilot の連携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dirty="0"/>
              <a:t>Kazuki Ota / 日本マイクロソフト</a:t>
            </a:r>
          </a:p>
          <a:p>
            <a:r>
              <a:rPr lang="en-US" dirty="0"/>
              <a:t>@okazuki</a:t>
            </a:r>
          </a:p>
          <a:p>
            <a:r>
              <a:rPr lang="ja-JP" dirty="0"/>
              <a:t>2026/05/29 超dotnet new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自己紹介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大田 一希 (Kazuki Ota)</a:t>
            </a:r>
          </a:p>
          <a:p>
            <a:pPr lvl="0"/>
            <a:r>
              <a:rPr lang="en-US" dirty="0"/>
              <a:t>Cloud Solution Architect &amp; Evangelist</a:t>
            </a:r>
            <a:r>
              <a:rPr lang="ja-JP" dirty="0"/>
              <a:t> / 日本マイクロソフト</a:t>
            </a:r>
          </a:p>
          <a:p>
            <a:pPr lvl="0"/>
            <a:r>
              <a:rPr lang="en-US" dirty="0"/>
              <a:t>X / GitHub: @okazuki</a:t>
            </a:r>
          </a:p>
          <a:p>
            <a:pPr lvl="0"/>
            <a:r>
              <a:rPr lang="en-US" dirty="0"/>
              <a:t>ReactiveProperty</a:t>
            </a:r>
            <a:r>
              <a:rPr lang="ja-JP" dirty="0"/>
              <a:t> などの OSS 開発者</a:t>
            </a:r>
          </a:p>
          <a:p>
            <a:pPr lvl="0"/>
            <a:r>
              <a:rPr lang="ja-JP" dirty="0"/>
              <a:t>最近はAspireとGitHub Copilotの組み合わせを検証中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6473" y="457200"/>
            <a:ext cx="10070310" cy="553998"/>
          </a:xfrm>
        </p:spPr>
        <p:txBody>
          <a:bodyPr/>
          <a:lstStyle/>
          <a:p>
            <a:r>
              <a:rPr lang="ja-JP" dirty="0"/>
              <a:t>Aspire とは?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quarter" idx="10"/>
          </p:nvPr>
        </p:nvSpPr>
        <p:spPr>
          <a:xfrm>
            <a:off x="685799" y="1500000"/>
            <a:ext cx="11124127" cy="2412968"/>
          </a:xfrm>
        </p:spPr>
        <p:txBody>
          <a:bodyPr/>
          <a:lstStyle/>
          <a:p>
            <a:pPr lvl="0"/>
            <a:r>
              <a:rPr lang="ja-JP" b="1" dirty="0"/>
              <a:t>コードファースト</a:t>
            </a:r>
            <a:r>
              <a:rPr lang="ja-JP" dirty="0"/>
              <a:t>な分散アプリのオーケストレーション</a:t>
            </a:r>
          </a:p>
          <a:p>
            <a:pPr lvl="0"/>
            <a:r>
              <a:rPr lang="ja-JP" altLang="en-US" b="1" dirty="0"/>
              <a:t>複数言語</a:t>
            </a:r>
            <a:r>
              <a:rPr lang="ja-JP" b="1" dirty="0"/>
              <a:t>対応</a:t>
            </a:r>
            <a:r>
              <a:rPr lang="ja-JP" dirty="0"/>
              <a:t> (C#、TypeScript、Python など)</a:t>
            </a:r>
          </a:p>
          <a:p>
            <a:pPr lvl="0"/>
            <a:r>
              <a:rPr lang="en-US" b="1" dirty="0"/>
              <a:t>Dashboard / CLI</a:t>
            </a:r>
            <a:r>
              <a:rPr lang="ja-JP" dirty="0"/>
              <a:t>: ログ・トレース・リソース状態の入口</a:t>
            </a:r>
          </a:p>
          <a:p>
            <a:pPr lvl="0"/>
            <a:r>
              <a:rPr lang="ja-JP" b="1" dirty="0"/>
              <a:t>AIエージェント</a:t>
            </a:r>
            <a:r>
              <a:rPr lang="ja-JP" dirty="0"/>
              <a:t>との連携が</a:t>
            </a:r>
            <a:r>
              <a:rPr lang="ja-JP" b="1" dirty="0"/>
              <a:t>ファーストクラス</a:t>
            </a:r>
            <a:r>
              <a:rPr lang="en-US" altLang="ja-JP" b="1" dirty="0"/>
              <a:t>(</a:t>
            </a:r>
            <a:r>
              <a:rPr lang="ja-JP" altLang="en-US" b="1" dirty="0"/>
              <a:t>今日話す内容はここ</a:t>
            </a:r>
            <a:r>
              <a:rPr lang="en-US" altLang="ja-JP" b="1" dirty="0"/>
              <a:t>)</a:t>
            </a:r>
            <a:endParaRPr lang="ja-JP" b="1" dirty="0"/>
          </a:p>
        </p:txBody>
      </p:sp>
      <p:pic>
        <p:nvPicPr>
          <p:cNvPr id="20" name="Aspire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7" y="258571"/>
            <a:ext cx="951256" cy="9512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aspire agent init</a:t>
            </a:r>
            <a:r>
              <a:rPr lang="ja-JP" dirty="0"/>
              <a:t> とは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quarter" idx="10"/>
          </p:nvPr>
        </p:nvSpPr>
        <p:spPr>
          <a:xfrm>
            <a:off x="584199" y="1435100"/>
            <a:ext cx="11380273" cy="4013406"/>
          </a:xfrm>
        </p:spPr>
        <p:txBody>
          <a:bodyPr/>
          <a:lstStyle/>
          <a:p>
            <a:pPr marL="0" lvl="0" indent="0">
              <a:buNone/>
            </a:pPr>
            <a:r>
              <a:rPr lang="ja-JP" sz="2400" dirty="0"/>
              <a:t>AIコーディングエージェント向けの環境構成を一発で適用する </a:t>
            </a:r>
            <a:r>
              <a:rPr lang="en-US" sz="2400" dirty="0"/>
              <a:t>Aspire CLI</a:t>
            </a:r>
            <a:r>
              <a:rPr lang="ja-JP" sz="2400" dirty="0"/>
              <a:t> コマンド</a:t>
            </a:r>
          </a:p>
          <a:p>
            <a:pPr lvl="0">
              <a:buNone/>
            </a:pPr>
            <a:endParaRPr lang="en-US" altLang="ja-JP" sz="2400" b="1" dirty="0"/>
          </a:p>
          <a:p>
            <a:pPr lvl="0">
              <a:buNone/>
            </a:pPr>
            <a:r>
              <a:rPr lang="ja-JP" sz="2400" b="1" dirty="0">
                <a:solidFill>
                  <a:schemeClr val="tx2"/>
                </a:solidFill>
              </a:rPr>
              <a:t>追加されるもの</a:t>
            </a:r>
            <a:r>
              <a:rPr lang="en-US" altLang="ja-JP" sz="2400" b="1" dirty="0">
                <a:solidFill>
                  <a:schemeClr val="tx2"/>
                </a:solidFill>
              </a:rPr>
              <a:t> (4 </a:t>
            </a:r>
            <a:r>
              <a:rPr lang="ja-JP" altLang="en-US" sz="2400" b="1" dirty="0">
                <a:solidFill>
                  <a:schemeClr val="tx2"/>
                </a:solidFill>
              </a:rPr>
              <a:t>つの </a:t>
            </a:r>
            <a:r>
              <a:rPr lang="en-US" altLang="ja-JP" sz="2400" b="1" dirty="0">
                <a:solidFill>
                  <a:schemeClr val="tx2"/>
                </a:solidFill>
              </a:rPr>
              <a:t>Skill </a:t>
            </a:r>
            <a:r>
              <a:rPr lang="ja-JP" altLang="en-US" sz="2400" b="1" dirty="0">
                <a:solidFill>
                  <a:schemeClr val="tx2"/>
                </a:solidFill>
              </a:rPr>
              <a:t>と </a:t>
            </a:r>
            <a:r>
              <a:rPr lang="en-US" altLang="ja-JP" sz="2400" b="1" dirty="0">
                <a:solidFill>
                  <a:schemeClr val="tx2"/>
                </a:solidFill>
              </a:rPr>
              <a:t>MCP </a:t>
            </a:r>
            <a:r>
              <a:rPr lang="ja-JP" altLang="en-US" sz="2400" b="1" dirty="0">
                <a:solidFill>
                  <a:schemeClr val="tx2"/>
                </a:solidFill>
              </a:rPr>
              <a:t>サーバー</a:t>
            </a:r>
            <a:r>
              <a:rPr lang="en-US" altLang="ja-JP" sz="2400" b="1" dirty="0">
                <a:solidFill>
                  <a:schemeClr val="tx2"/>
                </a:solidFill>
              </a:rPr>
              <a:t>)</a:t>
            </a:r>
            <a:endParaRPr lang="ja-JP" sz="2400" b="1" dirty="0">
              <a:solidFill>
                <a:schemeClr val="tx2"/>
              </a:solidFill>
            </a:endParaRPr>
          </a:p>
          <a:p>
            <a:pPr lvl="0"/>
            <a:r>
              <a:rPr lang="en-US" sz="2400" b="1" dirty="0"/>
              <a:t>Aspire skill</a:t>
            </a:r>
            <a:r>
              <a:rPr lang="ja-JP" sz="2400" dirty="0"/>
              <a:t> — </a:t>
            </a:r>
            <a:r>
              <a:rPr lang="en-US" sz="2400" dirty="0"/>
              <a:t>aspire CLI</a:t>
            </a:r>
            <a:r>
              <a:rPr lang="ja-JP" sz="2400" dirty="0"/>
              <a:t> と </a:t>
            </a:r>
            <a:r>
              <a:rPr lang="en-US" sz="2400" dirty="0"/>
              <a:t>AppHost</a:t>
            </a:r>
            <a:r>
              <a:rPr lang="ja-JP" sz="2400" dirty="0"/>
              <a:t> の作法を AI に伝える</a:t>
            </a:r>
          </a:p>
          <a:p>
            <a:pPr lvl="0"/>
            <a:r>
              <a:rPr lang="en-US" sz="2400" b="1" dirty="0"/>
              <a:t>dotnet-inspect skill</a:t>
            </a:r>
            <a:r>
              <a:rPr lang="ja-JP" sz="2400" dirty="0"/>
              <a:t> — .NET の API 表面の調査</a:t>
            </a:r>
          </a:p>
          <a:p>
            <a:pPr lvl="0"/>
            <a:r>
              <a:rPr lang="en-US" sz="2400" b="1" dirty="0"/>
              <a:t>Playwright CLI skill</a:t>
            </a:r>
            <a:r>
              <a:rPr lang="ja-JP" sz="2400" dirty="0"/>
              <a:t> — Web リソースのブラウザ自動化</a:t>
            </a:r>
          </a:p>
          <a:p>
            <a:pPr lvl="0"/>
            <a:r>
              <a:rPr lang="en-US" sz="2400" b="1" dirty="0"/>
              <a:t>aspireify skill</a:t>
            </a:r>
            <a:r>
              <a:rPr lang="ja-JP" sz="2400" dirty="0"/>
              <a:t> — 既存アプリへの Aspire 導入支援</a:t>
            </a:r>
          </a:p>
          <a:p>
            <a:pPr lvl="0"/>
            <a:r>
              <a:rPr lang="en-US" sz="2400" b="1" dirty="0"/>
              <a:t>Aspire MCP </a:t>
            </a:r>
            <a:r>
              <a:rPr lang="ja-JP" sz="2400" b="1" dirty="0"/>
              <a:t>サーバー</a:t>
            </a:r>
            <a:r>
              <a:rPr lang="ja-JP" sz="2400" dirty="0"/>
              <a:t> — 実行中アプリの状態・ログ・トレースへ直接アクセス</a:t>
            </a:r>
          </a:p>
          <a:p>
            <a:pPr lvl="0">
              <a:buNone/>
            </a:pPr>
            <a:br>
              <a:rPr lang="en-US" altLang="ja-JP" sz="1600" dirty="0">
                <a:solidFill>
                  <a:srgbClr val="595959"/>
                </a:solidFill>
              </a:rPr>
            </a:br>
            <a:r>
              <a:rPr lang="ja-JP" sz="1600" dirty="0">
                <a:solidFill>
                  <a:srgbClr val="595959"/>
                </a:solidFill>
              </a:rPr>
              <a:t>主要な AI コーディングツール (</a:t>
            </a:r>
            <a:r>
              <a:rPr lang="en-US" sz="1600" dirty="0">
                <a:solidFill>
                  <a:srgbClr val="595959"/>
                </a:solidFill>
              </a:rPr>
              <a:t>GitHub Copilot / Claude Code / </a:t>
            </a:r>
            <a:r>
              <a:rPr lang="en-US" sz="1600" dirty="0" err="1">
                <a:solidFill>
                  <a:srgbClr val="595959"/>
                </a:solidFill>
              </a:rPr>
              <a:t>OpenCode</a:t>
            </a:r>
            <a:r>
              <a:rPr lang="ja-JP" sz="1600" dirty="0">
                <a:solidFill>
                  <a:srgbClr val="595959"/>
                </a:solidFill>
              </a:rPr>
              <a:t> </a:t>
            </a:r>
            <a:r>
              <a:rPr lang="en-US" altLang="ja-JP" sz="1600" dirty="0">
                <a:solidFill>
                  <a:srgbClr val="595959"/>
                </a:solidFill>
              </a:rPr>
              <a:t>/ Codex</a:t>
            </a:r>
            <a:r>
              <a:rPr lang="ja-JP" sz="1600" dirty="0">
                <a:solidFill>
                  <a:srgbClr val="595959"/>
                </a:solidFill>
              </a:rPr>
              <a:t>など) に対応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65760"/>
            <a:ext cx="10820400" cy="800000"/>
          </a:xfrm>
        </p:spPr>
        <p:txBody>
          <a:bodyPr/>
          <a:lstStyle/>
          <a:p>
            <a:r>
              <a:rPr lang="ja-JP" dirty="0"/>
              <a:t>Copilot から見える Aspire アプリ</a:t>
            </a:r>
          </a:p>
        </p:txBody>
      </p:sp>
      <p:sp>
        <p:nvSpPr>
          <p:cNvPr id="10" name="CopilotBox"/>
          <p:cNvSpPr/>
          <p:nvPr/>
        </p:nvSpPr>
        <p:spPr>
          <a:xfrm>
            <a:off x="4696000" y="1500000"/>
            <a:ext cx="2800000" cy="70000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GitHub Copilot</a:t>
            </a:r>
          </a:p>
        </p:txBody>
      </p:sp>
      <p:sp>
        <p:nvSpPr>
          <p:cNvPr id="11" name="SourceBox"/>
          <p:cNvSpPr/>
          <p:nvPr/>
        </p:nvSpPr>
        <p:spPr>
          <a:xfrm>
            <a:off x="914400" y="3000000"/>
            <a:ext cx="2400000" cy="700000"/>
          </a:xfrm>
          <a:prstGeom prst="roundRect">
            <a:avLst/>
          </a:prstGeom>
          <a:solidFill>
            <a:srgbClr val="BFBFBF"/>
          </a:solidFill>
          <a:ln>
            <a:noFill/>
          </a:ln>
        </p:spPr>
        <p:txBody>
          <a:bodyPr anchor="ctr"/>
          <a:lstStyle/>
          <a:p>
            <a:pPr algn="ctr"/>
            <a:r>
              <a:rPr lang="ja-JP" sz="1800" b="1" dirty="0">
                <a:solidFill>
                  <a:srgbClr val="333333"/>
                </a:solidFill>
              </a:rPr>
              <a:t>ソースコード</a:t>
            </a:r>
          </a:p>
        </p:txBody>
      </p:sp>
      <p:sp>
        <p:nvSpPr>
          <p:cNvPr id="12" name="CLIBox"/>
          <p:cNvSpPr/>
          <p:nvPr/>
        </p:nvSpPr>
        <p:spPr>
          <a:xfrm>
            <a:off x="4896000" y="3000000"/>
            <a:ext cx="2400000" cy="700000"/>
          </a:xfrm>
          <a:prstGeom prst="roundRect">
            <a:avLst/>
          </a:prstGeom>
          <a:solidFill>
            <a:srgbClr val="FBAE40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800" b="1" dirty="0">
                <a:solidFill>
                  <a:srgbClr val="1E1E1E"/>
                </a:solidFill>
              </a:rPr>
              <a:t>aspire CLI</a:t>
            </a:r>
          </a:p>
        </p:txBody>
      </p:sp>
      <p:sp>
        <p:nvSpPr>
          <p:cNvPr id="13" name="MCPBox"/>
          <p:cNvSpPr/>
          <p:nvPr/>
        </p:nvSpPr>
        <p:spPr>
          <a:xfrm>
            <a:off x="8877600" y="3000000"/>
            <a:ext cx="2400000" cy="700000"/>
          </a:xfrm>
          <a:prstGeom prst="roundRect">
            <a:avLst/>
          </a:prstGeom>
          <a:solidFill>
            <a:srgbClr val="FBAE40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800" b="1" dirty="0">
                <a:solidFill>
                  <a:srgbClr val="1E1E1E"/>
                </a:solidFill>
              </a:rPr>
              <a:t>Aspire MCP server</a:t>
            </a:r>
          </a:p>
        </p:txBody>
      </p:sp>
      <p:sp>
        <p:nvSpPr>
          <p:cNvPr id="14" name="AspireAppBox"/>
          <p:cNvSpPr/>
          <p:nvPr/>
        </p:nvSpPr>
        <p:spPr>
          <a:xfrm>
            <a:off x="3296000" y="4800000"/>
            <a:ext cx="5600000" cy="1100000"/>
          </a:xfrm>
          <a:prstGeom prst="roundRect">
            <a:avLst/>
          </a:prstGeom>
          <a:solidFill>
            <a:srgbClr val="5ACBF0"/>
          </a:solidFill>
          <a:ln>
            <a:noFill/>
          </a:ln>
        </p:spPr>
        <p:txBody>
          <a:bodyPr anchor="ctr"/>
          <a:lstStyle/>
          <a:p>
            <a:pPr algn="ctr"/>
            <a:r>
              <a:rPr lang="ja-JP" sz="2000" b="1" dirty="0">
                <a:solidFill>
                  <a:srgbClr val="1E1E1E"/>
                </a:solidFill>
              </a:rPr>
              <a:t>実行中の Aspire アプリ</a:t>
            </a:r>
          </a:p>
          <a:p>
            <a:pPr algn="ctr"/>
            <a:r>
              <a:rPr lang="en-US" sz="1400" dirty="0">
                <a:solidFill>
                  <a:srgbClr val="1E1E1E"/>
                </a:solidFill>
              </a:rPr>
              <a:t>resources / logs / traces</a:t>
            </a:r>
          </a:p>
        </p:txBody>
      </p:sp>
      <p:cxnSp>
        <p:nvCxnSpPr>
          <p:cNvPr id="20" name="Arrow1"/>
          <p:cNvCxnSpPr/>
          <p:nvPr/>
        </p:nvCxnSpPr>
        <p:spPr>
          <a:xfrm flipH="1">
            <a:off x="2114400" y="2200000"/>
            <a:ext cx="3981600" cy="800000"/>
          </a:xfrm>
          <a:prstGeom prst="straightConnector1">
            <a:avLst/>
          </a:prstGeom>
          <a:ln w="25400">
            <a:solidFill>
              <a:srgbClr val="666666"/>
            </a:solidFill>
            <a:tailEnd type="triangle"/>
          </a:ln>
        </p:spPr>
      </p:cxnSp>
      <p:cxnSp>
        <p:nvCxnSpPr>
          <p:cNvPr id="21" name="Arrow2"/>
          <p:cNvCxnSpPr/>
          <p:nvPr/>
        </p:nvCxnSpPr>
        <p:spPr>
          <a:xfrm>
            <a:off x="6096000" y="2200000"/>
            <a:ext cx="0" cy="800000"/>
          </a:xfrm>
          <a:prstGeom prst="straightConnector1">
            <a:avLst/>
          </a:prstGeom>
          <a:ln w="25400">
            <a:solidFill>
              <a:srgbClr val="666666"/>
            </a:solidFill>
            <a:tailEnd type="triangle"/>
          </a:ln>
        </p:spPr>
      </p:cxnSp>
      <p:cxnSp>
        <p:nvCxnSpPr>
          <p:cNvPr id="22" name="Arrow3"/>
          <p:cNvCxnSpPr/>
          <p:nvPr/>
        </p:nvCxnSpPr>
        <p:spPr>
          <a:xfrm>
            <a:off x="6096000" y="2200000"/>
            <a:ext cx="3981600" cy="800000"/>
          </a:xfrm>
          <a:prstGeom prst="straightConnector1">
            <a:avLst/>
          </a:prstGeom>
          <a:ln w="25400">
            <a:solidFill>
              <a:srgbClr val="666666"/>
            </a:solidFill>
            <a:tailEnd type="triangle"/>
          </a:ln>
        </p:spPr>
      </p:cxnSp>
      <p:cxnSp>
        <p:nvCxnSpPr>
          <p:cNvPr id="23" name="Arrow4"/>
          <p:cNvCxnSpPr/>
          <p:nvPr/>
        </p:nvCxnSpPr>
        <p:spPr>
          <a:xfrm>
            <a:off x="6096000" y="3700000"/>
            <a:ext cx="0" cy="1100000"/>
          </a:xfrm>
          <a:prstGeom prst="straightConnector1">
            <a:avLst/>
          </a:prstGeom>
          <a:ln w="25400">
            <a:solidFill>
              <a:srgbClr val="666666"/>
            </a:solidFill>
            <a:tailEnd type="triangle"/>
          </a:ln>
        </p:spPr>
      </p:cxnSp>
      <p:cxnSp>
        <p:nvCxnSpPr>
          <p:cNvPr id="24" name="Arrow5"/>
          <p:cNvCxnSpPr/>
          <p:nvPr/>
        </p:nvCxnSpPr>
        <p:spPr>
          <a:xfrm flipH="1">
            <a:off x="8696000" y="3700000"/>
            <a:ext cx="1381600" cy="1100000"/>
          </a:xfrm>
          <a:prstGeom prst="straightConnector1">
            <a:avLst/>
          </a:prstGeom>
          <a:ln w="25400">
            <a:solidFill>
              <a:srgbClr val="666666"/>
            </a:solidFill>
            <a:tailEnd type="triangle"/>
          </a:ln>
        </p:spPr>
      </p:cxnSp>
      <p:sp>
        <p:nvSpPr>
          <p:cNvPr id="30" name="Caption"/>
          <p:cNvSpPr txBox="1"/>
          <p:nvPr/>
        </p:nvSpPr>
        <p:spPr>
          <a:xfrm>
            <a:off x="685800" y="6100000"/>
            <a:ext cx="10820400" cy="5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algn="ctr"/>
            <a:r>
              <a:rPr lang="ja-JP" sz="1400" i="1" dirty="0">
                <a:solidFill>
                  <a:srgbClr val="595959"/>
                </a:solidFill>
              </a:rPr>
              <a:t>橙色のボックス = </a:t>
            </a:r>
            <a:r>
              <a:rPr lang="en-US" sz="1400" b="1" i="1" dirty="0">
                <a:solidFill>
                  <a:srgbClr val="C97A00"/>
                </a:solidFill>
              </a:rPr>
              <a:t>aspire agent init</a:t>
            </a:r>
            <a:r>
              <a:rPr lang="ja-JP" sz="1400" i="1" dirty="0">
                <a:solidFill>
                  <a:srgbClr val="595959"/>
                </a:solidFill>
              </a:rPr>
              <a:t> で Copilot に開放される経路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914400"/>
            <a:ext cx="9144000" cy="800000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2"/>
          </p:nvPr>
        </p:nvSpPr>
        <p:spPr>
          <a:xfrm>
            <a:off x="585216" y="2100000"/>
            <a:ext cx="11023200" cy="4500000"/>
          </a:xfrm>
        </p:spPr>
        <p:txBody>
          <a:bodyPr/>
          <a:lstStyle/>
          <a:p>
            <a:pPr lvl="0">
              <a:buNone/>
            </a:pPr>
            <a:r>
              <a:rPr lang="ja-JP" b="1" dirty="0"/>
              <a:t>ゴール</a:t>
            </a:r>
          </a:p>
          <a:p>
            <a:pPr lvl="0">
              <a:buNone/>
            </a:pPr>
            <a:r>
              <a:rPr lang="en-US" dirty="0"/>
              <a:t>Copilot</a:t>
            </a:r>
            <a:r>
              <a:rPr lang="ja-JP" dirty="0"/>
              <a:t>がログとリソース状態を見て、エラーの原因まで辿り着く</a:t>
            </a:r>
          </a:p>
          <a:p>
            <a:pPr lvl="0">
              <a:buNone/>
            </a:pPr>
            <a:r>
              <a:rPr lang="ja-JP" dirty="0"/>
              <a:t> </a:t>
            </a:r>
          </a:p>
          <a:p>
            <a:pPr lvl="0">
              <a:buNone/>
            </a:pPr>
            <a:r>
              <a:rPr lang="ja-JP" b="1" dirty="0"/>
              <a:t>シナリオ</a:t>
            </a:r>
          </a:p>
          <a:p>
            <a:pPr lvl="0">
              <a:buNone/>
            </a:pPr>
            <a:r>
              <a:rPr lang="en-US" dirty="0"/>
              <a:t>aspire agent init</a:t>
            </a:r>
            <a:r>
              <a:rPr lang="ja-JP" dirty="0"/>
              <a:t>済みのプロジェクトを起動 → 仕込み済みのエラーで起動失敗 → </a:t>
            </a:r>
            <a:r>
              <a:rPr lang="en-US" dirty="0"/>
              <a:t>GitHub Copilot</a:t>
            </a:r>
            <a:r>
              <a:rPr lang="ja-JP" dirty="0"/>
              <a:t>に原因調査を依頼</a:t>
            </a:r>
          </a:p>
          <a:p>
            <a:pPr lvl="0">
              <a:buNone/>
            </a:pPr>
            <a:r>
              <a:rPr lang="ja-JP" dirty="0"/>
              <a:t> </a:t>
            </a:r>
          </a:p>
          <a:p>
            <a:pPr lvl="0">
              <a:buNone/>
            </a:pPr>
            <a:r>
              <a:rPr lang="ja-JP" b="1" dirty="0"/>
              <a:t>注目ポイント</a:t>
            </a:r>
          </a:p>
          <a:p>
            <a:pPr lvl="0">
              <a:buNone/>
            </a:pPr>
            <a:r>
              <a:rPr lang="en-US" dirty="0"/>
              <a:t>Copilot</a:t>
            </a:r>
            <a:r>
              <a:rPr lang="ja-JP" dirty="0"/>
              <a:t>がソース推測ではなく</a:t>
            </a:r>
            <a:r>
              <a:rPr lang="en-US" b="1" dirty="0"/>
              <a:t>aspire</a:t>
            </a:r>
            <a:r>
              <a:rPr lang="ja-JP" b="1" dirty="0"/>
              <a:t>コマンドで状態を見にいくか</a:t>
            </a:r>
          </a:p>
          <a:p>
            <a:pPr lvl="0">
              <a:buNone/>
            </a:pPr>
            <a:r>
              <a:rPr lang="en-US" dirty="0"/>
              <a:t>aspire describe / aspire logs</a:t>
            </a:r>
            <a:r>
              <a:rPr lang="ja-JP" dirty="0"/>
              <a:t> の活用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まとめ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en-US" b="1" dirty="0"/>
              <a:t>aspire agent init</a:t>
            </a:r>
            <a:r>
              <a:rPr lang="ja-JP" dirty="0"/>
              <a:t>でCopilotにAspireの作法と観測手段を渡す</a:t>
            </a:r>
          </a:p>
          <a:p>
            <a:pPr lvl="0"/>
            <a:r>
              <a:rPr lang="ja-JP" dirty="0"/>
              <a:t>分散アプリの調査が</a:t>
            </a:r>
            <a:r>
              <a:rPr lang="ja-JP" b="1" dirty="0"/>
              <a:t>推測ベースから観測ベース</a:t>
            </a:r>
            <a:r>
              <a:rPr lang="ja-JP" dirty="0"/>
              <a:t>に</a:t>
            </a:r>
          </a:p>
          <a:p>
            <a:pPr lvl="0"/>
            <a:r>
              <a:rPr lang="en-US" dirty="0"/>
              <a:t>aspire describe / aspire logs / MCP</a:t>
            </a:r>
            <a:r>
              <a:rPr lang="ja-JP" dirty="0"/>
              <a:t>で実行時情報を参照</a:t>
            </a:r>
          </a:p>
          <a:p>
            <a:pPr lvl="0"/>
            <a:r>
              <a:rPr lang="ja-JP" dirty="0"/>
              <a:t>既存アプリでも</a:t>
            </a:r>
            <a:r>
              <a:rPr lang="en-US" dirty="0"/>
              <a:t>aspire agent init</a:t>
            </a:r>
            <a:r>
              <a:rPr lang="ja-JP" dirty="0"/>
              <a:t>を実行するだけで導入可能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Kazuki Ota</a:t>
            </a:r>
          </a:p>
        </p:txBody>
      </p:sp>
      <p:sp>
        <p:nvSpPr>
          <p:cNvPr id="4" name="Text Placeholder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X / GitHub: @okazuki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4-07-29-theme">
  <a:themeElements>
    <a:clrScheme name="Custom 4">
      <a:dk1>
        <a:srgbClr val="000000"/>
      </a:dk1>
      <a:lt1>
        <a:srgbClr val="FFFFFF"/>
      </a:lt1>
      <a:dk2>
        <a:srgbClr val="0078D4"/>
      </a:dk2>
      <a:lt2>
        <a:srgbClr val="E8E6DF"/>
      </a:lt2>
      <a:accent1>
        <a:srgbClr val="0078D4"/>
      </a:accent1>
      <a:accent2>
        <a:srgbClr val="2A446F"/>
      </a:accent2>
      <a:accent3>
        <a:srgbClr val="49C5B1"/>
      </a:accent3>
      <a:accent4>
        <a:srgbClr val="8DE971"/>
      </a:accent4>
      <a:accent5>
        <a:srgbClr val="F4364F"/>
      </a:accent5>
      <a:accent6>
        <a:srgbClr val="C03BC4"/>
      </a:accent6>
      <a:hlink>
        <a:srgbClr val="091F2C"/>
      </a:hlink>
      <a:folHlink>
        <a:srgbClr val="091F2C"/>
      </a:folHlink>
    </a:clrScheme>
    <a:fontScheme name="ユーザー定義 1">
      <a:majorFont>
        <a:latin typeface="Yu Gothic UI Light"/>
        <a:ea typeface="游ゴシック Light"/>
        <a:cs typeface=""/>
      </a:majorFont>
      <a:minorFont>
        <a:latin typeface="Yu Gothic UI"/>
        <a:ea typeface="游ゴシック"/>
        <a:cs typeface=""/>
      </a:minorFont>
    </a:fontScheme>
    <a:fmtScheme name="クチュール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kumimoji="1" sz="2000" dirty="0" err="1">
            <a:solidFill>
              <a:srgbClr val="FFFFFF"/>
            </a:solidFill>
            <a:latin typeface="+mn-ea"/>
            <a:ea typeface="+mn-ea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2024-07-29-theme" id="{178820AD-3201-4B9B-9A81-7335BDE02A91}" vid="{920B8F76-AF69-4BC5-9C28-EAE2FD99EE23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2024-07-29-theme</Template>
  <TotalTime>5</TotalTime>
  <Words>375</Words>
  <Application>Microsoft Office PowerPoint</Application>
  <PresentationFormat>ワイド画面</PresentationFormat>
  <Paragraphs>51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5" baseType="lpstr">
      <vt:lpstr>Yu Gothic UI</vt:lpstr>
      <vt:lpstr>Yu Gothic UI Light</vt:lpstr>
      <vt:lpstr>Arial</vt:lpstr>
      <vt:lpstr>Consolas</vt:lpstr>
      <vt:lpstr>Segoe UI</vt:lpstr>
      <vt:lpstr>Wingdings</vt:lpstr>
      <vt:lpstr>2024-07-29-theme</vt:lpstr>
      <vt:lpstr>Aspire と GitHub Copilot の連携</vt:lpstr>
      <vt:lpstr>自己紹介</vt:lpstr>
      <vt:lpstr>Aspire とは?</vt:lpstr>
      <vt:lpstr>aspire agent init とは</vt:lpstr>
      <vt:lpstr>Copilot から見える Aspire アプリ</vt:lpstr>
      <vt:lpstr>Demo</vt:lpstr>
      <vt:lpstr>まとめ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Kazuki Ota</dc:creator>
  <cp:lastModifiedBy>Kazuki Ota</cp:lastModifiedBy>
  <cp:revision>4</cp:revision>
  <dcterms:created xsi:type="dcterms:W3CDTF">2026-05-21T06:38:06Z</dcterms:created>
  <dcterms:modified xsi:type="dcterms:W3CDTF">2026-05-27T04:31:32Z</dcterms:modified>
</cp:coreProperties>
</file>